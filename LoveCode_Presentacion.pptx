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5087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77832-EF0E-B7B6-9B39-8E8956F415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A15B7-83DB-2444-5391-5BF905AFC1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274494-AD98-4240-3B41-20DBBBFE7D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9779A8-4DDA-F9C0-27BF-DD732212E68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350107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8"/>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B03A2E"/>
          </a:solidFill>
          <a:ln w="12700">
            <a:solidFill>
              <a:srgbClr val="B03A2E"/>
            </a:solidFill>
            <a:prstDash val="solid"/>
          </a:ln>
        </p:spPr>
        <p:txBody>
          <a:bodyPr/>
          <a:lstStyle/>
          <a:p>
            <a:endParaRPr lang="es-ES"/>
          </a:p>
        </p:txBody>
      </p:sp>
      <p:pic>
        <p:nvPicPr>
          <p:cNvPr id="3" name="Image 0" descr="/tmp/logo_xtart.png"/>
          <p:cNvPicPr>
            <a:picLocks noChangeAspect="1"/>
          </p:cNvPicPr>
          <p:nvPr/>
        </p:nvPicPr>
        <p:blipFill>
          <a:blip r:embed="rId3"/>
          <a:stretch>
            <a:fillRect/>
          </a:stretch>
        </p:blipFill>
        <p:spPr>
          <a:xfrm>
            <a:off x="228600" y="274320"/>
            <a:ext cx="1645920" cy="694944"/>
          </a:xfrm>
          <a:prstGeom prst="rect">
            <a:avLst/>
          </a:prstGeom>
        </p:spPr>
      </p:pic>
      <p:sp>
        <p:nvSpPr>
          <p:cNvPr id="4" name="Text 1"/>
          <p:cNvSpPr/>
          <p:nvPr/>
        </p:nvSpPr>
        <p:spPr>
          <a:xfrm>
            <a:off x="164592" y="1371600"/>
            <a:ext cx="3145536" cy="1005840"/>
          </a:xfrm>
          <a:prstGeom prst="rect">
            <a:avLst/>
          </a:prstGeom>
          <a:noFill/>
          <a:ln/>
        </p:spPr>
        <p:txBody>
          <a:bodyPr wrap="square" lIns="0" tIns="0" rIns="0" bIns="0" rtlCol="0" anchor="ctr"/>
          <a:lstStyle/>
          <a:p>
            <a:pPr marL="0" indent="0" algn="l">
              <a:buNone/>
            </a:pPr>
            <a:r>
              <a:rPr lang="en-US" sz="5400" b="1" dirty="0">
                <a:solidFill>
                  <a:srgbClr val="FFFFFF"/>
                </a:solidFill>
                <a:latin typeface="Calibri" pitchFamily="34" charset="0"/>
                <a:ea typeface="Calibri" pitchFamily="34" charset="-122"/>
                <a:cs typeface="Calibri" pitchFamily="34" charset="-120"/>
              </a:rPr>
              <a:t>LoveCode</a:t>
            </a:r>
            <a:endParaRPr lang="en-US" sz="5400" dirty="0"/>
          </a:p>
        </p:txBody>
      </p:sp>
      <p:sp>
        <p:nvSpPr>
          <p:cNvPr id="5" name="Text 2"/>
          <p:cNvSpPr/>
          <p:nvPr/>
        </p:nvSpPr>
        <p:spPr>
          <a:xfrm>
            <a:off x="3749040" y="1645920"/>
            <a:ext cx="512064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Carlos Rubino Selva</a:t>
            </a:r>
            <a:endParaRPr lang="en-US" sz="2800" dirty="0"/>
          </a:p>
        </p:txBody>
      </p:sp>
      <p:sp>
        <p:nvSpPr>
          <p:cNvPr id="6" name="Shape 3"/>
          <p:cNvSpPr/>
          <p:nvPr/>
        </p:nvSpPr>
        <p:spPr>
          <a:xfrm>
            <a:off x="3749040" y="2340864"/>
            <a:ext cx="5120640" cy="0"/>
          </a:xfrm>
          <a:prstGeom prst="line">
            <a:avLst/>
          </a:prstGeom>
          <a:noFill/>
          <a:ln w="19050">
            <a:solidFill>
              <a:srgbClr val="B03A2E"/>
            </a:solidFill>
            <a:prstDash val="solid"/>
          </a:ln>
        </p:spPr>
        <p:txBody>
          <a:bodyPr/>
          <a:lstStyle/>
          <a:p>
            <a:endParaRPr lang="es-ES"/>
          </a:p>
        </p:txBody>
      </p:sp>
      <p:sp>
        <p:nvSpPr>
          <p:cNvPr id="7" name="Text 4"/>
          <p:cNvSpPr/>
          <p:nvPr/>
        </p:nvSpPr>
        <p:spPr>
          <a:xfrm>
            <a:off x="3749040" y="2505456"/>
            <a:ext cx="1371600" cy="201168"/>
          </a:xfrm>
          <a:prstGeom prst="rect">
            <a:avLst/>
          </a:prstGeom>
          <a:noFill/>
          <a:ln/>
        </p:spPr>
        <p:txBody>
          <a:bodyPr wrap="square" lIns="0" tIns="0" rIns="0" bIns="0" rtlCol="0" anchor="ctr"/>
          <a:lstStyle/>
          <a:p>
            <a:pPr marL="0" indent="0">
              <a:buNone/>
            </a:pPr>
            <a:r>
              <a:rPr lang="en-US" sz="800" b="1" kern="0" spc="200" dirty="0">
                <a:solidFill>
                  <a:srgbClr val="AEB6BF"/>
                </a:solidFill>
                <a:latin typeface="Calibri" pitchFamily="34" charset="0"/>
                <a:ea typeface="Calibri" pitchFamily="34" charset="-122"/>
                <a:cs typeface="Calibri" pitchFamily="34" charset="-120"/>
              </a:rPr>
              <a:t>CICLO</a:t>
            </a:r>
            <a:endParaRPr lang="en-US" sz="800" dirty="0"/>
          </a:p>
        </p:txBody>
      </p:sp>
      <p:sp>
        <p:nvSpPr>
          <p:cNvPr id="8" name="Text 5"/>
          <p:cNvSpPr/>
          <p:nvPr/>
        </p:nvSpPr>
        <p:spPr>
          <a:xfrm>
            <a:off x="3749040" y="2706624"/>
            <a:ext cx="5120640" cy="29260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1.º Desarrollo de Aplicaciones Web</a:t>
            </a:r>
            <a:endParaRPr lang="en-US" sz="1500" dirty="0"/>
          </a:p>
        </p:txBody>
      </p:sp>
      <p:sp>
        <p:nvSpPr>
          <p:cNvPr id="9" name="Text 6"/>
          <p:cNvSpPr/>
          <p:nvPr/>
        </p:nvSpPr>
        <p:spPr>
          <a:xfrm>
            <a:off x="3749040" y="3072384"/>
            <a:ext cx="1371600" cy="201168"/>
          </a:xfrm>
          <a:prstGeom prst="rect">
            <a:avLst/>
          </a:prstGeom>
          <a:noFill/>
          <a:ln/>
        </p:spPr>
        <p:txBody>
          <a:bodyPr wrap="square" lIns="0" tIns="0" rIns="0" bIns="0" rtlCol="0" anchor="ctr"/>
          <a:lstStyle/>
          <a:p>
            <a:pPr marL="0" indent="0">
              <a:buNone/>
            </a:pPr>
            <a:r>
              <a:rPr lang="en-US" sz="800" b="1" kern="0" spc="200" dirty="0">
                <a:solidFill>
                  <a:srgbClr val="AEB6BF"/>
                </a:solidFill>
                <a:latin typeface="Calibri" pitchFamily="34" charset="0"/>
                <a:ea typeface="Calibri" pitchFamily="34" charset="-122"/>
                <a:cs typeface="Calibri" pitchFamily="34" charset="-120"/>
              </a:rPr>
              <a:t>CENTRO</a:t>
            </a:r>
            <a:endParaRPr lang="en-US" sz="800" dirty="0"/>
          </a:p>
        </p:txBody>
      </p:sp>
      <p:sp>
        <p:nvSpPr>
          <p:cNvPr id="10" name="Text 7"/>
          <p:cNvSpPr/>
          <p:nvPr/>
        </p:nvSpPr>
        <p:spPr>
          <a:xfrm>
            <a:off x="3749040" y="3273552"/>
            <a:ext cx="5120640" cy="29260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XTART</a:t>
            </a:r>
            <a:endParaRPr lang="en-US" sz="1500" dirty="0"/>
          </a:p>
        </p:txBody>
      </p:sp>
      <p:sp>
        <p:nvSpPr>
          <p:cNvPr id="11" name="Text 8"/>
          <p:cNvSpPr/>
          <p:nvPr/>
        </p:nvSpPr>
        <p:spPr>
          <a:xfrm>
            <a:off x="3749040" y="3639312"/>
            <a:ext cx="1371600" cy="201168"/>
          </a:xfrm>
          <a:prstGeom prst="rect">
            <a:avLst/>
          </a:prstGeom>
          <a:noFill/>
          <a:ln/>
        </p:spPr>
        <p:txBody>
          <a:bodyPr wrap="square" lIns="0" tIns="0" rIns="0" bIns="0" rtlCol="0" anchor="ctr"/>
          <a:lstStyle/>
          <a:p>
            <a:pPr marL="0" indent="0">
              <a:buNone/>
            </a:pPr>
            <a:r>
              <a:rPr lang="en-US" sz="800" b="1" kern="0" spc="200" dirty="0">
                <a:solidFill>
                  <a:srgbClr val="AEB6BF"/>
                </a:solidFill>
                <a:latin typeface="Calibri" pitchFamily="34" charset="0"/>
                <a:ea typeface="Calibri" pitchFamily="34" charset="-122"/>
                <a:cs typeface="Calibri" pitchFamily="34" charset="-120"/>
              </a:rPr>
              <a:t>CURSO</a:t>
            </a:r>
            <a:endParaRPr lang="en-US" sz="800" dirty="0"/>
          </a:p>
        </p:txBody>
      </p:sp>
      <p:sp>
        <p:nvSpPr>
          <p:cNvPr id="12" name="Text 9"/>
          <p:cNvSpPr/>
          <p:nvPr/>
        </p:nvSpPr>
        <p:spPr>
          <a:xfrm>
            <a:off x="3749040" y="3840480"/>
            <a:ext cx="5120640" cy="29260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2025 / 2026</a:t>
            </a:r>
            <a:endParaRPr lang="en-US" sz="1500" dirty="0"/>
          </a:p>
        </p:txBody>
      </p:sp>
      <p:sp>
        <p:nvSpPr>
          <p:cNvPr id="13" name="Text 10"/>
          <p:cNvSpPr/>
          <p:nvPr/>
        </p:nvSpPr>
        <p:spPr>
          <a:xfrm>
            <a:off x="3749040" y="4206240"/>
            <a:ext cx="1371600" cy="201168"/>
          </a:xfrm>
          <a:prstGeom prst="rect">
            <a:avLst/>
          </a:prstGeom>
          <a:noFill/>
          <a:ln/>
        </p:spPr>
        <p:txBody>
          <a:bodyPr wrap="square" lIns="0" tIns="0" rIns="0" bIns="0" rtlCol="0" anchor="ctr"/>
          <a:lstStyle/>
          <a:p>
            <a:pPr marL="0" indent="0">
              <a:buNone/>
            </a:pPr>
            <a:r>
              <a:rPr lang="en-US" sz="800" b="1" kern="0" spc="200" dirty="0">
                <a:solidFill>
                  <a:srgbClr val="AEB6BF"/>
                </a:solidFill>
                <a:latin typeface="Calibri" pitchFamily="34" charset="0"/>
                <a:ea typeface="Calibri" pitchFamily="34" charset="-122"/>
                <a:cs typeface="Calibri" pitchFamily="34" charset="-120"/>
              </a:rPr>
              <a:t>FECHA</a:t>
            </a:r>
            <a:endParaRPr lang="en-US" sz="800" dirty="0"/>
          </a:p>
        </p:txBody>
      </p:sp>
      <p:sp>
        <p:nvSpPr>
          <p:cNvPr id="14" name="Text 11"/>
          <p:cNvSpPr/>
          <p:nvPr/>
        </p:nvSpPr>
        <p:spPr>
          <a:xfrm>
            <a:off x="3749040" y="4407408"/>
            <a:ext cx="5120640" cy="29260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31 de mayo de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C2B4A"/>
          </a:solidFill>
          <a:ln w="12700">
            <a:solidFill>
              <a:srgbClr val="1C2B4A"/>
            </a:solidFill>
            <a:prstDash val="solid"/>
          </a:ln>
        </p:spPr>
        <p:txBody>
          <a:bodyPr/>
          <a:lstStyle/>
          <a:p>
            <a:endParaRPr lang="es-ES"/>
          </a:p>
        </p:txBody>
      </p:sp>
      <p:sp>
        <p:nvSpPr>
          <p:cNvPr id="3" name="Text 1"/>
          <p:cNvSpPr/>
          <p:nvPr/>
        </p:nvSpPr>
        <p:spPr>
          <a:xfrm>
            <a:off x="347472" y="36576"/>
            <a:ext cx="8595360" cy="201168"/>
          </a:xfrm>
          <a:prstGeom prst="rect">
            <a:avLst/>
          </a:prstGeom>
          <a:noFill/>
          <a:ln/>
        </p:spPr>
        <p:txBody>
          <a:bodyPr wrap="square" lIns="0" tIns="0" rIns="0" bIns="0" rtlCol="0" anchor="ctr"/>
          <a:lstStyle/>
          <a:p>
            <a:pPr marL="0" indent="0">
              <a:buNone/>
            </a:pPr>
            <a:r>
              <a:rPr lang="en-US" sz="900" b="1" kern="0" spc="300" dirty="0">
                <a:solidFill>
                  <a:srgbClr val="B03A2E"/>
                </a:solidFill>
                <a:latin typeface="Calibri" pitchFamily="34" charset="0"/>
                <a:ea typeface="Calibri" pitchFamily="34" charset="-122"/>
                <a:cs typeface="Calibri" pitchFamily="34" charset="-120"/>
              </a:rPr>
              <a:t>DESCRIPCION DEL PROYECTO</a:t>
            </a:r>
            <a:endParaRPr lang="en-US" sz="900" dirty="0"/>
          </a:p>
        </p:txBody>
      </p:sp>
      <p:sp>
        <p:nvSpPr>
          <p:cNvPr id="4" name="Text 2"/>
          <p:cNvSpPr/>
          <p:nvPr/>
        </p:nvSpPr>
        <p:spPr>
          <a:xfrm>
            <a:off x="347472" y="164592"/>
            <a:ext cx="8595360" cy="566928"/>
          </a:xfrm>
          <a:prstGeom prst="rect">
            <a:avLst/>
          </a:prstGeom>
          <a:noFill/>
          <a:ln/>
        </p:spPr>
        <p:txBody>
          <a:bodyPr wrap="square" lIns="0" tIns="0" rIns="0" bIns="0" rtlCol="0" anchor="ctr"/>
          <a:lstStyle/>
          <a:p>
            <a:pPr marL="0" indent="0" algn="l">
              <a:buNone/>
            </a:pPr>
            <a:r>
              <a:rPr lang="en-US" sz="2700" b="1" dirty="0">
                <a:solidFill>
                  <a:srgbClr val="1C2B4A"/>
                </a:solidFill>
                <a:latin typeface="Calibri" pitchFamily="34" charset="0"/>
                <a:ea typeface="Calibri" pitchFamily="34" charset="-122"/>
                <a:cs typeface="Calibri" pitchFamily="34" charset="-120"/>
              </a:rPr>
              <a:t>Que es LoveCode</a:t>
            </a:r>
            <a:endParaRPr lang="en-US" sz="2700" dirty="0"/>
          </a:p>
        </p:txBody>
      </p:sp>
      <p:sp>
        <p:nvSpPr>
          <p:cNvPr id="5" name="Shape 3"/>
          <p:cNvSpPr/>
          <p:nvPr/>
        </p:nvSpPr>
        <p:spPr>
          <a:xfrm>
            <a:off x="347472" y="768096"/>
            <a:ext cx="8449056" cy="0"/>
          </a:xfrm>
          <a:prstGeom prst="line">
            <a:avLst/>
          </a:prstGeom>
          <a:noFill/>
          <a:ln w="8890">
            <a:solidFill>
              <a:srgbClr val="AEB6BF"/>
            </a:solidFill>
            <a:prstDash val="solid"/>
          </a:ln>
        </p:spPr>
        <p:txBody>
          <a:bodyPr/>
          <a:lstStyle/>
          <a:p>
            <a:endParaRPr lang="es-ES"/>
          </a:p>
        </p:txBody>
      </p:sp>
      <p:sp>
        <p:nvSpPr>
          <p:cNvPr id="6" name="Text 4"/>
          <p:cNvSpPr/>
          <p:nvPr/>
        </p:nvSpPr>
        <p:spPr>
          <a:xfrm>
            <a:off x="347472" y="932688"/>
            <a:ext cx="4297680" cy="1737360"/>
          </a:xfrm>
          <a:prstGeom prst="rect">
            <a:avLst/>
          </a:prstGeom>
          <a:noFill/>
          <a:ln/>
        </p:spPr>
        <p:txBody>
          <a:bodyPr wrap="square" lIns="0" tIns="0" rIns="0" bIns="0" rtlCol="0" anchor="t"/>
          <a:lstStyle/>
          <a:p>
            <a:pPr marL="0" indent="0" algn="l">
              <a:lnSpc>
                <a:spcPct val="132000"/>
              </a:lnSpc>
              <a:buNone/>
            </a:pPr>
            <a:r>
              <a:rPr lang="en-US" sz="1250" dirty="0">
                <a:solidFill>
                  <a:srgbClr val="2C3E50"/>
                </a:solidFill>
                <a:latin typeface="Calibri" pitchFamily="34" charset="0"/>
                <a:ea typeface="Calibri" pitchFamily="34" charset="-122"/>
                <a:cs typeface="Calibri" pitchFamily="34" charset="-120"/>
              </a:rPr>
              <a:t>LoveCode es una aplicacion web pensada para conectar a desarrolladores que comparten intereses tecnicos. Cada usuario crea su perfil indicando con que tecnologias trabaja o quiere aprender. Desde ahi puede ver perfiles de otros desarrolladores y dar like a los que le resulten interesantes. Si dos personas se dan like mutuamente, el sistema genera automaticamente un match.</a:t>
            </a:r>
            <a:endParaRPr lang="en-US" sz="1250" dirty="0"/>
          </a:p>
        </p:txBody>
      </p:sp>
      <p:sp>
        <p:nvSpPr>
          <p:cNvPr id="7" name="Text 5"/>
          <p:cNvSpPr/>
          <p:nvPr/>
        </p:nvSpPr>
        <p:spPr>
          <a:xfrm>
            <a:off x="347472" y="2743200"/>
            <a:ext cx="4297680" cy="256032"/>
          </a:xfrm>
          <a:prstGeom prst="rect">
            <a:avLst/>
          </a:prstGeom>
          <a:noFill/>
          <a:ln/>
        </p:spPr>
        <p:txBody>
          <a:bodyPr wrap="square" lIns="0" tIns="0" rIns="0" bIns="0" rtlCol="0" anchor="t"/>
          <a:lstStyle/>
          <a:p>
            <a:pPr marL="0" indent="0" algn="l">
              <a:lnSpc>
                <a:spcPct val="132000"/>
              </a:lnSpc>
              <a:buNone/>
            </a:pPr>
            <a:r>
              <a:rPr lang="en-US" sz="1300" b="1" dirty="0">
                <a:solidFill>
                  <a:srgbClr val="1C2B4A"/>
                </a:solidFill>
                <a:latin typeface="Calibri" pitchFamily="34" charset="0"/>
                <a:ea typeface="Calibri" pitchFamily="34" charset="-122"/>
                <a:cs typeface="Calibri" pitchFamily="34" charset="-120"/>
              </a:rPr>
              <a:t>Cinco asignaturas integradas:</a:t>
            </a:r>
            <a:endParaRPr lang="en-US" sz="1300" dirty="0"/>
          </a:p>
        </p:txBody>
      </p:sp>
      <p:sp>
        <p:nvSpPr>
          <p:cNvPr id="8" name="Shape 6"/>
          <p:cNvSpPr/>
          <p:nvPr/>
        </p:nvSpPr>
        <p:spPr>
          <a:xfrm>
            <a:off x="347472" y="3127248"/>
            <a:ext cx="146304" cy="146304"/>
          </a:xfrm>
          <a:prstGeom prst="ellipse">
            <a:avLst/>
          </a:prstGeom>
          <a:solidFill>
            <a:srgbClr val="B03A2E"/>
          </a:solidFill>
          <a:ln w="12700">
            <a:solidFill>
              <a:srgbClr val="B03A2E"/>
            </a:solidFill>
            <a:prstDash val="solid"/>
          </a:ln>
        </p:spPr>
        <p:txBody>
          <a:bodyPr/>
          <a:lstStyle/>
          <a:p>
            <a:endParaRPr lang="es-ES"/>
          </a:p>
        </p:txBody>
      </p:sp>
      <p:sp>
        <p:nvSpPr>
          <p:cNvPr id="9" name="Text 7"/>
          <p:cNvSpPr/>
          <p:nvPr/>
        </p:nvSpPr>
        <p:spPr>
          <a:xfrm>
            <a:off x="566928" y="3035808"/>
            <a:ext cx="4078224" cy="347472"/>
          </a:xfrm>
          <a:prstGeom prst="rect">
            <a:avLst/>
          </a:prstGeom>
          <a:noFill/>
          <a:ln/>
        </p:spPr>
        <p:txBody>
          <a:bodyPr wrap="square" lIns="0" tIns="0" rIns="0" bIns="0" rtlCol="0" anchor="ctr"/>
          <a:lstStyle/>
          <a:p>
            <a:pPr marL="0" indent="0">
              <a:lnSpc>
                <a:spcPct val="120000"/>
              </a:lnSpc>
              <a:buNone/>
            </a:pPr>
            <a:r>
              <a:rPr lang="en-US" sz="1200" dirty="0">
                <a:solidFill>
                  <a:srgbClr val="2C3E50"/>
                </a:solidFill>
                <a:latin typeface="Calibri" pitchFamily="34" charset="0"/>
                <a:ea typeface="Calibri" pitchFamily="34" charset="-122"/>
                <a:cs typeface="Calibri" pitchFamily="34" charset="-120"/>
              </a:rPr>
              <a:t>Bases de Datos — gestionar la informacion</a:t>
            </a:r>
            <a:endParaRPr lang="en-US" sz="1200" dirty="0"/>
          </a:p>
        </p:txBody>
      </p:sp>
      <p:sp>
        <p:nvSpPr>
          <p:cNvPr id="10" name="Shape 8"/>
          <p:cNvSpPr/>
          <p:nvPr/>
        </p:nvSpPr>
        <p:spPr>
          <a:xfrm>
            <a:off x="347472" y="3529584"/>
            <a:ext cx="146304" cy="146304"/>
          </a:xfrm>
          <a:prstGeom prst="ellipse">
            <a:avLst/>
          </a:prstGeom>
          <a:solidFill>
            <a:srgbClr val="B03A2E"/>
          </a:solidFill>
          <a:ln w="12700">
            <a:solidFill>
              <a:srgbClr val="B03A2E"/>
            </a:solidFill>
            <a:prstDash val="solid"/>
          </a:ln>
        </p:spPr>
        <p:txBody>
          <a:bodyPr/>
          <a:lstStyle/>
          <a:p>
            <a:endParaRPr lang="es-ES"/>
          </a:p>
        </p:txBody>
      </p:sp>
      <p:sp>
        <p:nvSpPr>
          <p:cNvPr id="11" name="Text 9"/>
          <p:cNvSpPr/>
          <p:nvPr/>
        </p:nvSpPr>
        <p:spPr>
          <a:xfrm>
            <a:off x="566928" y="3438144"/>
            <a:ext cx="4078224" cy="347472"/>
          </a:xfrm>
          <a:prstGeom prst="rect">
            <a:avLst/>
          </a:prstGeom>
          <a:noFill/>
          <a:ln/>
        </p:spPr>
        <p:txBody>
          <a:bodyPr wrap="square" lIns="0" tIns="0" rIns="0" bIns="0" rtlCol="0" anchor="ctr"/>
          <a:lstStyle/>
          <a:p>
            <a:pPr marL="0" indent="0">
              <a:lnSpc>
                <a:spcPct val="120000"/>
              </a:lnSpc>
              <a:buNone/>
            </a:pPr>
            <a:r>
              <a:rPr lang="en-US" sz="1200" dirty="0">
                <a:solidFill>
                  <a:srgbClr val="2C3E50"/>
                </a:solidFill>
                <a:latin typeface="Calibri" pitchFamily="34" charset="0"/>
                <a:ea typeface="Calibri" pitchFamily="34" charset="-122"/>
                <a:cs typeface="Calibri" pitchFamily="34" charset="-120"/>
              </a:rPr>
              <a:t>Programacion — construir el servidor</a:t>
            </a:r>
            <a:endParaRPr lang="en-US" sz="1200" dirty="0"/>
          </a:p>
        </p:txBody>
      </p:sp>
      <p:sp>
        <p:nvSpPr>
          <p:cNvPr id="12" name="Shape 10"/>
          <p:cNvSpPr/>
          <p:nvPr/>
        </p:nvSpPr>
        <p:spPr>
          <a:xfrm>
            <a:off x="347472" y="3931920"/>
            <a:ext cx="146304" cy="146304"/>
          </a:xfrm>
          <a:prstGeom prst="ellipse">
            <a:avLst/>
          </a:prstGeom>
          <a:solidFill>
            <a:srgbClr val="B03A2E"/>
          </a:solidFill>
          <a:ln w="12700">
            <a:solidFill>
              <a:srgbClr val="B03A2E"/>
            </a:solidFill>
            <a:prstDash val="solid"/>
          </a:ln>
        </p:spPr>
        <p:txBody>
          <a:bodyPr/>
          <a:lstStyle/>
          <a:p>
            <a:endParaRPr lang="es-ES"/>
          </a:p>
        </p:txBody>
      </p:sp>
      <p:sp>
        <p:nvSpPr>
          <p:cNvPr id="13" name="Text 11"/>
          <p:cNvSpPr/>
          <p:nvPr/>
        </p:nvSpPr>
        <p:spPr>
          <a:xfrm>
            <a:off x="566928" y="3840480"/>
            <a:ext cx="4078224" cy="347472"/>
          </a:xfrm>
          <a:prstGeom prst="rect">
            <a:avLst/>
          </a:prstGeom>
          <a:noFill/>
          <a:ln/>
        </p:spPr>
        <p:txBody>
          <a:bodyPr wrap="square" lIns="0" tIns="0" rIns="0" bIns="0" rtlCol="0" anchor="ctr"/>
          <a:lstStyle/>
          <a:p>
            <a:pPr marL="0" indent="0">
              <a:lnSpc>
                <a:spcPct val="120000"/>
              </a:lnSpc>
              <a:buNone/>
            </a:pPr>
            <a:r>
              <a:rPr lang="en-US" sz="1200" dirty="0">
                <a:solidFill>
                  <a:srgbClr val="2C3E50"/>
                </a:solidFill>
                <a:latin typeface="Calibri" pitchFamily="34" charset="0"/>
                <a:ea typeface="Calibri" pitchFamily="34" charset="-122"/>
                <a:cs typeface="Calibri" pitchFamily="34" charset="-120"/>
              </a:rPr>
              <a:t>Lenguajes de Marcas — disenar la interfaz</a:t>
            </a:r>
            <a:endParaRPr lang="en-US" sz="1200" dirty="0"/>
          </a:p>
        </p:txBody>
      </p:sp>
      <p:sp>
        <p:nvSpPr>
          <p:cNvPr id="14" name="Shape 12"/>
          <p:cNvSpPr/>
          <p:nvPr/>
        </p:nvSpPr>
        <p:spPr>
          <a:xfrm>
            <a:off x="347472" y="4334256"/>
            <a:ext cx="146304" cy="146304"/>
          </a:xfrm>
          <a:prstGeom prst="ellipse">
            <a:avLst/>
          </a:prstGeom>
          <a:solidFill>
            <a:srgbClr val="B03A2E"/>
          </a:solidFill>
          <a:ln w="12700">
            <a:solidFill>
              <a:srgbClr val="B03A2E"/>
            </a:solidFill>
            <a:prstDash val="solid"/>
          </a:ln>
        </p:spPr>
        <p:txBody>
          <a:bodyPr/>
          <a:lstStyle/>
          <a:p>
            <a:endParaRPr lang="es-ES"/>
          </a:p>
        </p:txBody>
      </p:sp>
      <p:sp>
        <p:nvSpPr>
          <p:cNvPr id="15" name="Text 13"/>
          <p:cNvSpPr/>
          <p:nvPr/>
        </p:nvSpPr>
        <p:spPr>
          <a:xfrm>
            <a:off x="566928" y="4242816"/>
            <a:ext cx="4078224" cy="347472"/>
          </a:xfrm>
          <a:prstGeom prst="rect">
            <a:avLst/>
          </a:prstGeom>
          <a:noFill/>
          <a:ln/>
        </p:spPr>
        <p:txBody>
          <a:bodyPr wrap="square" lIns="0" tIns="0" rIns="0" bIns="0" rtlCol="0" anchor="ctr"/>
          <a:lstStyle/>
          <a:p>
            <a:pPr marL="0" indent="0">
              <a:lnSpc>
                <a:spcPct val="120000"/>
              </a:lnSpc>
              <a:buNone/>
            </a:pPr>
            <a:r>
              <a:rPr lang="en-US" sz="1200" dirty="0">
                <a:solidFill>
                  <a:srgbClr val="2C3E50"/>
                </a:solidFill>
                <a:latin typeface="Calibri" pitchFamily="34" charset="0"/>
                <a:ea typeface="Calibri" pitchFamily="34" charset="-122"/>
                <a:cs typeface="Calibri" pitchFamily="34" charset="-120"/>
              </a:rPr>
              <a:t>Entornos de Desarrollo — organizar el codigo</a:t>
            </a:r>
            <a:endParaRPr lang="en-US" sz="1200" dirty="0"/>
          </a:p>
        </p:txBody>
      </p:sp>
      <p:sp>
        <p:nvSpPr>
          <p:cNvPr id="16" name="Shape 14"/>
          <p:cNvSpPr/>
          <p:nvPr/>
        </p:nvSpPr>
        <p:spPr>
          <a:xfrm>
            <a:off x="347472" y="4736592"/>
            <a:ext cx="146304" cy="146304"/>
          </a:xfrm>
          <a:prstGeom prst="ellipse">
            <a:avLst/>
          </a:prstGeom>
          <a:solidFill>
            <a:srgbClr val="B03A2E"/>
          </a:solidFill>
          <a:ln w="12700">
            <a:solidFill>
              <a:srgbClr val="B03A2E"/>
            </a:solidFill>
            <a:prstDash val="solid"/>
          </a:ln>
        </p:spPr>
        <p:txBody>
          <a:bodyPr/>
          <a:lstStyle/>
          <a:p>
            <a:endParaRPr lang="es-ES"/>
          </a:p>
        </p:txBody>
      </p:sp>
      <p:sp>
        <p:nvSpPr>
          <p:cNvPr id="17" name="Text 15"/>
          <p:cNvSpPr/>
          <p:nvPr/>
        </p:nvSpPr>
        <p:spPr>
          <a:xfrm>
            <a:off x="566928" y="4645152"/>
            <a:ext cx="4078224" cy="347472"/>
          </a:xfrm>
          <a:prstGeom prst="rect">
            <a:avLst/>
          </a:prstGeom>
          <a:noFill/>
          <a:ln/>
        </p:spPr>
        <p:txBody>
          <a:bodyPr wrap="square" lIns="0" tIns="0" rIns="0" bIns="0" rtlCol="0" anchor="ctr"/>
          <a:lstStyle/>
          <a:p>
            <a:pPr marL="0" indent="0">
              <a:lnSpc>
                <a:spcPct val="120000"/>
              </a:lnSpc>
              <a:buNone/>
            </a:pPr>
            <a:r>
              <a:rPr lang="en-US" sz="1200" dirty="0">
                <a:solidFill>
                  <a:srgbClr val="2C3E50"/>
                </a:solidFill>
                <a:latin typeface="Calibri" pitchFamily="34" charset="0"/>
                <a:ea typeface="Calibri" pitchFamily="34" charset="-122"/>
                <a:cs typeface="Calibri" pitchFamily="34" charset="-120"/>
              </a:rPr>
              <a:t>Sistemas Informaticos — copias de seguridad</a:t>
            </a:r>
            <a:endParaRPr lang="en-US" sz="1200" dirty="0"/>
          </a:p>
        </p:txBody>
      </p:sp>
      <p:sp>
        <p:nvSpPr>
          <p:cNvPr id="18" name="Shape 16"/>
          <p:cNvSpPr/>
          <p:nvPr/>
        </p:nvSpPr>
        <p:spPr>
          <a:xfrm>
            <a:off x="4919472" y="932688"/>
            <a:ext cx="3877056" cy="1225296"/>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19" name="Shape 17"/>
          <p:cNvSpPr/>
          <p:nvPr/>
        </p:nvSpPr>
        <p:spPr>
          <a:xfrm>
            <a:off x="4919472" y="932688"/>
            <a:ext cx="566928" cy="1225296"/>
          </a:xfrm>
          <a:prstGeom prst="rect">
            <a:avLst/>
          </a:prstGeom>
          <a:solidFill>
            <a:srgbClr val="1C2B4A"/>
          </a:solidFill>
          <a:ln w="12700">
            <a:solidFill>
              <a:srgbClr val="1C2B4A"/>
            </a:solidFill>
            <a:prstDash val="solid"/>
          </a:ln>
        </p:spPr>
        <p:txBody>
          <a:bodyPr/>
          <a:lstStyle/>
          <a:p>
            <a:endParaRPr lang="es-ES"/>
          </a:p>
        </p:txBody>
      </p:sp>
      <p:sp>
        <p:nvSpPr>
          <p:cNvPr id="20" name="Text 18"/>
          <p:cNvSpPr/>
          <p:nvPr/>
        </p:nvSpPr>
        <p:spPr>
          <a:xfrm>
            <a:off x="4919472" y="932688"/>
            <a:ext cx="566928" cy="122529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21" name="Text 19"/>
          <p:cNvSpPr/>
          <p:nvPr/>
        </p:nvSpPr>
        <p:spPr>
          <a:xfrm>
            <a:off x="5541264" y="1042416"/>
            <a:ext cx="3163824" cy="329184"/>
          </a:xfrm>
          <a:prstGeom prst="rect">
            <a:avLst/>
          </a:prstGeom>
          <a:noFill/>
          <a:ln/>
        </p:spPr>
        <p:txBody>
          <a:bodyPr wrap="square" lIns="0" tIns="0" rIns="0" bIns="0" rtlCol="0" anchor="ctr"/>
          <a:lstStyle/>
          <a:p>
            <a:pPr marL="0" indent="0">
              <a:buNone/>
            </a:pPr>
            <a:r>
              <a:rPr lang="en-US" sz="1500" b="1" dirty="0">
                <a:solidFill>
                  <a:srgbClr val="1C2B4A"/>
                </a:solidFill>
                <a:latin typeface="Calibri" pitchFamily="34" charset="0"/>
                <a:ea typeface="Calibri" pitchFamily="34" charset="-122"/>
                <a:cs typeface="Calibri" pitchFamily="34" charset="-120"/>
              </a:rPr>
              <a:t>Te registras</a:t>
            </a:r>
            <a:endParaRPr lang="en-US" sz="1500" dirty="0"/>
          </a:p>
        </p:txBody>
      </p:sp>
      <p:sp>
        <p:nvSpPr>
          <p:cNvPr id="22" name="Text 20"/>
          <p:cNvSpPr/>
          <p:nvPr/>
        </p:nvSpPr>
        <p:spPr>
          <a:xfrm>
            <a:off x="5541264" y="1408176"/>
            <a:ext cx="3163824" cy="658368"/>
          </a:xfrm>
          <a:prstGeom prst="rect">
            <a:avLst/>
          </a:prstGeom>
          <a:noFill/>
          <a:ln/>
        </p:spPr>
        <p:txBody>
          <a:bodyPr wrap="square" lIns="0" tIns="0" rIns="0" bIns="0" rtlCol="0" anchor="t"/>
          <a:lstStyle/>
          <a:p>
            <a:pPr marL="0" indent="0" algn="l">
              <a:lnSpc>
                <a:spcPct val="125000"/>
              </a:lnSpc>
              <a:buNone/>
            </a:pPr>
            <a:r>
              <a:rPr lang="en-US" sz="1200" dirty="0">
                <a:solidFill>
                  <a:srgbClr val="5D6D7E"/>
                </a:solidFill>
                <a:latin typeface="Calibri" pitchFamily="34" charset="0"/>
                <a:ea typeface="Calibri" pitchFamily="34" charset="-122"/>
                <a:cs typeface="Calibri" pitchFamily="34" charset="-120"/>
              </a:rPr>
              <a:t>Creas tu perfil como desarrollador y seleccionas las tecnologias que conoces o te interesan</a:t>
            </a:r>
            <a:endParaRPr lang="en-US" sz="1200" dirty="0"/>
          </a:p>
        </p:txBody>
      </p:sp>
      <p:sp>
        <p:nvSpPr>
          <p:cNvPr id="23" name="Shape 21"/>
          <p:cNvSpPr/>
          <p:nvPr/>
        </p:nvSpPr>
        <p:spPr>
          <a:xfrm>
            <a:off x="4919472" y="2304288"/>
            <a:ext cx="3877056" cy="1225296"/>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24" name="Shape 22"/>
          <p:cNvSpPr/>
          <p:nvPr/>
        </p:nvSpPr>
        <p:spPr>
          <a:xfrm>
            <a:off x="4919472" y="2304288"/>
            <a:ext cx="566928" cy="1225296"/>
          </a:xfrm>
          <a:prstGeom prst="rect">
            <a:avLst/>
          </a:prstGeom>
          <a:solidFill>
            <a:srgbClr val="1C2B4A"/>
          </a:solidFill>
          <a:ln w="12700">
            <a:solidFill>
              <a:srgbClr val="1C2B4A"/>
            </a:solidFill>
            <a:prstDash val="solid"/>
          </a:ln>
        </p:spPr>
        <p:txBody>
          <a:bodyPr/>
          <a:lstStyle/>
          <a:p>
            <a:endParaRPr lang="es-ES"/>
          </a:p>
        </p:txBody>
      </p:sp>
      <p:sp>
        <p:nvSpPr>
          <p:cNvPr id="25" name="Text 23"/>
          <p:cNvSpPr/>
          <p:nvPr/>
        </p:nvSpPr>
        <p:spPr>
          <a:xfrm>
            <a:off x="4919472" y="2304288"/>
            <a:ext cx="566928" cy="122529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26" name="Text 24"/>
          <p:cNvSpPr/>
          <p:nvPr/>
        </p:nvSpPr>
        <p:spPr>
          <a:xfrm>
            <a:off x="5541264" y="2414016"/>
            <a:ext cx="3163824" cy="329184"/>
          </a:xfrm>
          <a:prstGeom prst="rect">
            <a:avLst/>
          </a:prstGeom>
          <a:noFill/>
          <a:ln/>
        </p:spPr>
        <p:txBody>
          <a:bodyPr wrap="square" lIns="0" tIns="0" rIns="0" bIns="0" rtlCol="0" anchor="ctr"/>
          <a:lstStyle/>
          <a:p>
            <a:pPr marL="0" indent="0">
              <a:buNone/>
            </a:pPr>
            <a:r>
              <a:rPr lang="en-US" sz="1500" b="1" dirty="0">
                <a:solidFill>
                  <a:srgbClr val="1C2B4A"/>
                </a:solidFill>
                <a:latin typeface="Calibri" pitchFamily="34" charset="0"/>
                <a:ea typeface="Calibri" pitchFamily="34" charset="-122"/>
                <a:cs typeface="Calibri" pitchFamily="34" charset="-120"/>
              </a:rPr>
              <a:t>Descubres perfiles</a:t>
            </a:r>
            <a:endParaRPr lang="en-US" sz="1500" dirty="0"/>
          </a:p>
        </p:txBody>
      </p:sp>
      <p:sp>
        <p:nvSpPr>
          <p:cNvPr id="27" name="Text 25"/>
          <p:cNvSpPr/>
          <p:nvPr/>
        </p:nvSpPr>
        <p:spPr>
          <a:xfrm>
            <a:off x="5541264" y="2779776"/>
            <a:ext cx="3163824" cy="658368"/>
          </a:xfrm>
          <a:prstGeom prst="rect">
            <a:avLst/>
          </a:prstGeom>
          <a:noFill/>
          <a:ln/>
        </p:spPr>
        <p:txBody>
          <a:bodyPr wrap="square" lIns="0" tIns="0" rIns="0" bIns="0" rtlCol="0" anchor="t"/>
          <a:lstStyle/>
          <a:p>
            <a:pPr marL="0" indent="0" algn="l">
              <a:lnSpc>
                <a:spcPct val="125000"/>
              </a:lnSpc>
              <a:buNone/>
            </a:pPr>
            <a:r>
              <a:rPr lang="en-US" sz="1200" dirty="0">
                <a:solidFill>
                  <a:srgbClr val="5D6D7E"/>
                </a:solidFill>
                <a:latin typeface="Calibri" pitchFamily="34" charset="0"/>
                <a:ea typeface="Calibri" pitchFamily="34" charset="-122"/>
                <a:cs typeface="Calibri" pitchFamily="34" charset="-120"/>
              </a:rPr>
              <a:t>Ves las tarjetas de otros desarrolladores con su descripcion y sus tecnologias</a:t>
            </a:r>
            <a:endParaRPr lang="en-US" sz="1200" dirty="0"/>
          </a:p>
        </p:txBody>
      </p:sp>
      <p:sp>
        <p:nvSpPr>
          <p:cNvPr id="28" name="Shape 26"/>
          <p:cNvSpPr/>
          <p:nvPr/>
        </p:nvSpPr>
        <p:spPr>
          <a:xfrm>
            <a:off x="4919472" y="3675888"/>
            <a:ext cx="3877056" cy="1225296"/>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29" name="Shape 27"/>
          <p:cNvSpPr/>
          <p:nvPr/>
        </p:nvSpPr>
        <p:spPr>
          <a:xfrm>
            <a:off x="4919472" y="3675888"/>
            <a:ext cx="566928" cy="1225296"/>
          </a:xfrm>
          <a:prstGeom prst="rect">
            <a:avLst/>
          </a:prstGeom>
          <a:solidFill>
            <a:srgbClr val="1C2B4A"/>
          </a:solidFill>
          <a:ln w="12700">
            <a:solidFill>
              <a:srgbClr val="1C2B4A"/>
            </a:solidFill>
            <a:prstDash val="solid"/>
          </a:ln>
        </p:spPr>
        <p:txBody>
          <a:bodyPr/>
          <a:lstStyle/>
          <a:p>
            <a:endParaRPr lang="es-ES"/>
          </a:p>
        </p:txBody>
      </p:sp>
      <p:sp>
        <p:nvSpPr>
          <p:cNvPr id="30" name="Text 28"/>
          <p:cNvSpPr/>
          <p:nvPr/>
        </p:nvSpPr>
        <p:spPr>
          <a:xfrm>
            <a:off x="4919472" y="3675888"/>
            <a:ext cx="566928" cy="122529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31" name="Text 29"/>
          <p:cNvSpPr/>
          <p:nvPr/>
        </p:nvSpPr>
        <p:spPr>
          <a:xfrm>
            <a:off x="5541264" y="3785616"/>
            <a:ext cx="3163824" cy="329184"/>
          </a:xfrm>
          <a:prstGeom prst="rect">
            <a:avLst/>
          </a:prstGeom>
          <a:noFill/>
          <a:ln/>
        </p:spPr>
        <p:txBody>
          <a:bodyPr wrap="square" lIns="0" tIns="0" rIns="0" bIns="0" rtlCol="0" anchor="ctr"/>
          <a:lstStyle/>
          <a:p>
            <a:pPr marL="0" indent="0">
              <a:buNone/>
            </a:pPr>
            <a:r>
              <a:rPr lang="en-US" sz="1500" b="1" dirty="0">
                <a:solidFill>
                  <a:srgbClr val="1C2B4A"/>
                </a:solidFill>
                <a:latin typeface="Calibri" pitchFamily="34" charset="0"/>
                <a:ea typeface="Calibri" pitchFamily="34" charset="-122"/>
                <a:cs typeface="Calibri" pitchFamily="34" charset="-120"/>
              </a:rPr>
              <a:t>Haces match</a:t>
            </a:r>
            <a:endParaRPr lang="en-US" sz="1500" dirty="0"/>
          </a:p>
        </p:txBody>
      </p:sp>
      <p:sp>
        <p:nvSpPr>
          <p:cNvPr id="32" name="Text 30"/>
          <p:cNvSpPr/>
          <p:nvPr/>
        </p:nvSpPr>
        <p:spPr>
          <a:xfrm>
            <a:off x="5541264" y="4151376"/>
            <a:ext cx="3163824" cy="658368"/>
          </a:xfrm>
          <a:prstGeom prst="rect">
            <a:avLst/>
          </a:prstGeom>
          <a:noFill/>
          <a:ln/>
        </p:spPr>
        <p:txBody>
          <a:bodyPr wrap="square" lIns="0" tIns="0" rIns="0" bIns="0" rtlCol="0" anchor="t"/>
          <a:lstStyle/>
          <a:p>
            <a:pPr marL="0" indent="0" algn="l">
              <a:lnSpc>
                <a:spcPct val="125000"/>
              </a:lnSpc>
              <a:buNone/>
            </a:pPr>
            <a:r>
              <a:rPr lang="en-US" sz="1200" dirty="0">
                <a:solidFill>
                  <a:srgbClr val="5D6D7E"/>
                </a:solidFill>
                <a:latin typeface="Calibri" pitchFamily="34" charset="0"/>
                <a:ea typeface="Calibri" pitchFamily="34" charset="-122"/>
                <a:cs typeface="Calibri" pitchFamily="34" charset="-120"/>
              </a:rPr>
              <a:t>Si dos usuarios se dan like mutuamente, el sistema los conecta automaticamente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C2B4A"/>
          </a:solidFill>
          <a:ln w="12700">
            <a:solidFill>
              <a:srgbClr val="1C2B4A"/>
            </a:solidFill>
            <a:prstDash val="solid"/>
          </a:ln>
        </p:spPr>
        <p:txBody>
          <a:bodyPr/>
          <a:lstStyle/>
          <a:p>
            <a:endParaRPr lang="es-ES"/>
          </a:p>
        </p:txBody>
      </p:sp>
      <p:sp>
        <p:nvSpPr>
          <p:cNvPr id="3" name="Text 1"/>
          <p:cNvSpPr/>
          <p:nvPr/>
        </p:nvSpPr>
        <p:spPr>
          <a:xfrm>
            <a:off x="347472" y="36576"/>
            <a:ext cx="8595360" cy="201168"/>
          </a:xfrm>
          <a:prstGeom prst="rect">
            <a:avLst/>
          </a:prstGeom>
          <a:noFill/>
          <a:ln/>
        </p:spPr>
        <p:txBody>
          <a:bodyPr wrap="square" lIns="0" tIns="0" rIns="0" bIns="0" rtlCol="0" anchor="ctr"/>
          <a:lstStyle/>
          <a:p>
            <a:pPr marL="0" indent="0">
              <a:buNone/>
            </a:pPr>
            <a:r>
              <a:rPr lang="en-US" sz="900" b="1" kern="0" spc="300" dirty="0">
                <a:solidFill>
                  <a:srgbClr val="B03A2E"/>
                </a:solidFill>
                <a:latin typeface="Calibri" pitchFamily="34" charset="0"/>
                <a:ea typeface="Calibri" pitchFamily="34" charset="-122"/>
                <a:cs typeface="Calibri" pitchFamily="34" charset="-120"/>
              </a:rPr>
              <a:t>COMO ESTA CONSTRUIDO EL PROYECTO</a:t>
            </a:r>
            <a:endParaRPr lang="en-US" sz="900" dirty="0"/>
          </a:p>
        </p:txBody>
      </p:sp>
      <p:sp>
        <p:nvSpPr>
          <p:cNvPr id="4" name="Text 2"/>
          <p:cNvSpPr/>
          <p:nvPr/>
        </p:nvSpPr>
        <p:spPr>
          <a:xfrm>
            <a:off x="347472" y="164592"/>
            <a:ext cx="8595360" cy="566928"/>
          </a:xfrm>
          <a:prstGeom prst="rect">
            <a:avLst/>
          </a:prstGeom>
          <a:noFill/>
          <a:ln/>
        </p:spPr>
        <p:txBody>
          <a:bodyPr wrap="square" lIns="0" tIns="0" rIns="0" bIns="0" rtlCol="0" anchor="ctr"/>
          <a:lstStyle/>
          <a:p>
            <a:pPr marL="0" indent="0" algn="l">
              <a:buNone/>
            </a:pPr>
            <a:r>
              <a:rPr lang="en-US" sz="2700" b="1" dirty="0">
                <a:solidFill>
                  <a:srgbClr val="1C2B4A"/>
                </a:solidFill>
                <a:latin typeface="Calibri" pitchFamily="34" charset="0"/>
                <a:ea typeface="Calibri" pitchFamily="34" charset="-122"/>
                <a:cs typeface="Calibri" pitchFamily="34" charset="-120"/>
              </a:rPr>
              <a:t>Estructura del sistema</a:t>
            </a:r>
            <a:endParaRPr lang="en-US" sz="2700" dirty="0"/>
          </a:p>
        </p:txBody>
      </p:sp>
      <p:sp>
        <p:nvSpPr>
          <p:cNvPr id="5" name="Shape 3"/>
          <p:cNvSpPr/>
          <p:nvPr/>
        </p:nvSpPr>
        <p:spPr>
          <a:xfrm>
            <a:off x="347472" y="768096"/>
            <a:ext cx="8449056" cy="0"/>
          </a:xfrm>
          <a:prstGeom prst="line">
            <a:avLst/>
          </a:prstGeom>
          <a:noFill/>
          <a:ln w="8890">
            <a:solidFill>
              <a:srgbClr val="AEB6BF"/>
            </a:solidFill>
            <a:prstDash val="solid"/>
          </a:ln>
        </p:spPr>
        <p:txBody>
          <a:bodyPr/>
          <a:lstStyle/>
          <a:p>
            <a:endParaRPr lang="es-ES"/>
          </a:p>
        </p:txBody>
      </p:sp>
      <p:sp>
        <p:nvSpPr>
          <p:cNvPr id="6" name="Text 4"/>
          <p:cNvSpPr/>
          <p:nvPr/>
        </p:nvSpPr>
        <p:spPr>
          <a:xfrm>
            <a:off x="347472" y="932688"/>
            <a:ext cx="4114800" cy="1188720"/>
          </a:xfrm>
          <a:prstGeom prst="rect">
            <a:avLst/>
          </a:prstGeom>
          <a:noFill/>
          <a:ln/>
        </p:spPr>
        <p:txBody>
          <a:bodyPr wrap="square" lIns="0" tIns="0" rIns="0" bIns="0" rtlCol="0" anchor="t"/>
          <a:lstStyle/>
          <a:p>
            <a:pPr marL="0" indent="0" algn="l">
              <a:lnSpc>
                <a:spcPct val="132000"/>
              </a:lnSpc>
              <a:buNone/>
            </a:pPr>
            <a:r>
              <a:rPr lang="en-US" sz="1300" dirty="0">
                <a:solidFill>
                  <a:srgbClr val="2C3E50"/>
                </a:solidFill>
                <a:latin typeface="Calibri" pitchFamily="34" charset="0"/>
                <a:ea typeface="Calibri" pitchFamily="34" charset="-122"/>
                <a:cs typeface="Calibri" pitchFamily="34" charset="-120"/>
              </a:rPr>
              <a:t>El sistema se divide en tres partes que trabajan juntas. Cada parte tiene una funcion clara y se comunica con las otras de forma ordenada. Esta forma de organizar un proyecto se llama arquitectura de tres capas y es la mas habitual en el desarrollo web profesional.</a:t>
            </a:r>
            <a:endParaRPr lang="en-US" sz="1300" dirty="0"/>
          </a:p>
        </p:txBody>
      </p:sp>
      <p:sp>
        <p:nvSpPr>
          <p:cNvPr id="7" name="Text 5"/>
          <p:cNvSpPr/>
          <p:nvPr/>
        </p:nvSpPr>
        <p:spPr>
          <a:xfrm>
            <a:off x="347472" y="2194560"/>
            <a:ext cx="4114800" cy="256032"/>
          </a:xfrm>
          <a:prstGeom prst="rect">
            <a:avLst/>
          </a:prstGeom>
          <a:noFill/>
          <a:ln/>
        </p:spPr>
        <p:txBody>
          <a:bodyPr wrap="square" lIns="0" tIns="0" rIns="0" bIns="0" rtlCol="0" anchor="t"/>
          <a:lstStyle/>
          <a:p>
            <a:pPr marL="0" indent="0" algn="l">
              <a:lnSpc>
                <a:spcPct val="132000"/>
              </a:lnSpc>
              <a:buNone/>
            </a:pPr>
            <a:r>
              <a:rPr lang="en-US" sz="1300" b="1" dirty="0">
                <a:solidFill>
                  <a:srgbClr val="1C2B4A"/>
                </a:solidFill>
                <a:latin typeface="Calibri" pitchFamily="34" charset="0"/>
                <a:ea typeface="Calibri" pitchFamily="34" charset="-122"/>
                <a:cs typeface="Calibri" pitchFamily="34" charset="-120"/>
              </a:rPr>
              <a:t>Como fluye la informacion:</a:t>
            </a:r>
            <a:endParaRPr lang="en-US" sz="1300" dirty="0"/>
          </a:p>
        </p:txBody>
      </p:sp>
      <p:sp>
        <p:nvSpPr>
          <p:cNvPr id="8" name="Shape 6"/>
          <p:cNvSpPr/>
          <p:nvPr/>
        </p:nvSpPr>
        <p:spPr>
          <a:xfrm>
            <a:off x="347472" y="2596896"/>
            <a:ext cx="201168" cy="201168"/>
          </a:xfrm>
          <a:prstGeom prst="ellipse">
            <a:avLst/>
          </a:prstGeom>
          <a:solidFill>
            <a:srgbClr val="B03A2E"/>
          </a:solidFill>
          <a:ln w="12700">
            <a:solidFill>
              <a:srgbClr val="B03A2E"/>
            </a:solidFill>
            <a:prstDash val="solid"/>
          </a:ln>
        </p:spPr>
        <p:txBody>
          <a:bodyPr/>
          <a:lstStyle/>
          <a:p>
            <a:endParaRPr lang="es-ES"/>
          </a:p>
        </p:txBody>
      </p:sp>
      <p:sp>
        <p:nvSpPr>
          <p:cNvPr id="9" name="Text 7"/>
          <p:cNvSpPr/>
          <p:nvPr/>
        </p:nvSpPr>
        <p:spPr>
          <a:xfrm>
            <a:off x="347472" y="2596896"/>
            <a:ext cx="201168"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p:nvPr/>
        </p:nvSpPr>
        <p:spPr>
          <a:xfrm>
            <a:off x="621792" y="2505456"/>
            <a:ext cx="3840480" cy="384048"/>
          </a:xfrm>
          <a:prstGeom prst="rect">
            <a:avLst/>
          </a:prstGeom>
          <a:noFill/>
          <a:ln/>
        </p:spPr>
        <p:txBody>
          <a:bodyPr wrap="square" lIns="0" tIns="0" rIns="0" bIns="0" rtlCol="0" anchor="ctr"/>
          <a:lstStyle/>
          <a:p>
            <a:pPr marL="0" indent="0">
              <a:lnSpc>
                <a:spcPct val="120000"/>
              </a:lnSpc>
              <a:buNone/>
            </a:pPr>
            <a:r>
              <a:rPr lang="en-US" sz="1200" dirty="0">
                <a:solidFill>
                  <a:srgbClr val="2C3E50"/>
                </a:solidFill>
                <a:latin typeface="Calibri" pitchFamily="34" charset="0"/>
                <a:ea typeface="Calibri" pitchFamily="34" charset="-122"/>
                <a:cs typeface="Calibri" pitchFamily="34" charset="-120"/>
              </a:rPr>
              <a:t>El usuario hace algo en la pagina, como pulsar Like.</a:t>
            </a:r>
            <a:endParaRPr lang="en-US" sz="1200" dirty="0"/>
          </a:p>
        </p:txBody>
      </p:sp>
      <p:sp>
        <p:nvSpPr>
          <p:cNvPr id="11" name="Shape 9"/>
          <p:cNvSpPr/>
          <p:nvPr/>
        </p:nvSpPr>
        <p:spPr>
          <a:xfrm>
            <a:off x="347472" y="3035808"/>
            <a:ext cx="201168" cy="201168"/>
          </a:xfrm>
          <a:prstGeom prst="ellipse">
            <a:avLst/>
          </a:prstGeom>
          <a:solidFill>
            <a:srgbClr val="B03A2E"/>
          </a:solidFill>
          <a:ln w="12700">
            <a:solidFill>
              <a:srgbClr val="B03A2E"/>
            </a:solidFill>
            <a:prstDash val="solid"/>
          </a:ln>
        </p:spPr>
        <p:txBody>
          <a:bodyPr/>
          <a:lstStyle/>
          <a:p>
            <a:endParaRPr lang="es-ES"/>
          </a:p>
        </p:txBody>
      </p:sp>
      <p:sp>
        <p:nvSpPr>
          <p:cNvPr id="12" name="Text 10"/>
          <p:cNvSpPr/>
          <p:nvPr/>
        </p:nvSpPr>
        <p:spPr>
          <a:xfrm>
            <a:off x="347472" y="3035808"/>
            <a:ext cx="201168"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p:nvPr/>
        </p:nvSpPr>
        <p:spPr>
          <a:xfrm>
            <a:off x="621792" y="2944368"/>
            <a:ext cx="3840480" cy="384048"/>
          </a:xfrm>
          <a:prstGeom prst="rect">
            <a:avLst/>
          </a:prstGeom>
          <a:noFill/>
          <a:ln/>
        </p:spPr>
        <p:txBody>
          <a:bodyPr wrap="square" lIns="0" tIns="0" rIns="0" bIns="0" rtlCol="0" anchor="ctr"/>
          <a:lstStyle/>
          <a:p>
            <a:pPr marL="0" indent="0">
              <a:lnSpc>
                <a:spcPct val="120000"/>
              </a:lnSpc>
              <a:buNone/>
            </a:pPr>
            <a:r>
              <a:rPr lang="en-US" sz="1200" dirty="0">
                <a:solidFill>
                  <a:srgbClr val="2C3E50"/>
                </a:solidFill>
                <a:latin typeface="Calibri" pitchFamily="34" charset="0"/>
                <a:ea typeface="Calibri" pitchFamily="34" charset="-122"/>
                <a:cs typeface="Calibri" pitchFamily="34" charset="-120"/>
              </a:rPr>
              <a:t>La pagina envia esa accion al servidor sin recargar.</a:t>
            </a:r>
            <a:endParaRPr lang="en-US" sz="1200" dirty="0"/>
          </a:p>
        </p:txBody>
      </p:sp>
      <p:sp>
        <p:nvSpPr>
          <p:cNvPr id="14" name="Shape 12"/>
          <p:cNvSpPr/>
          <p:nvPr/>
        </p:nvSpPr>
        <p:spPr>
          <a:xfrm>
            <a:off x="347472" y="3474720"/>
            <a:ext cx="201168" cy="201168"/>
          </a:xfrm>
          <a:prstGeom prst="ellipse">
            <a:avLst/>
          </a:prstGeom>
          <a:solidFill>
            <a:srgbClr val="B03A2E"/>
          </a:solidFill>
          <a:ln w="12700">
            <a:solidFill>
              <a:srgbClr val="B03A2E"/>
            </a:solidFill>
            <a:prstDash val="solid"/>
          </a:ln>
        </p:spPr>
        <p:txBody>
          <a:bodyPr/>
          <a:lstStyle/>
          <a:p>
            <a:endParaRPr lang="es-ES"/>
          </a:p>
        </p:txBody>
      </p:sp>
      <p:sp>
        <p:nvSpPr>
          <p:cNvPr id="15" name="Text 13"/>
          <p:cNvSpPr/>
          <p:nvPr/>
        </p:nvSpPr>
        <p:spPr>
          <a:xfrm>
            <a:off x="347472" y="3474720"/>
            <a:ext cx="201168"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621792" y="3383280"/>
            <a:ext cx="3840480" cy="384048"/>
          </a:xfrm>
          <a:prstGeom prst="rect">
            <a:avLst/>
          </a:prstGeom>
          <a:noFill/>
          <a:ln/>
        </p:spPr>
        <p:txBody>
          <a:bodyPr wrap="square" lIns="0" tIns="0" rIns="0" bIns="0" rtlCol="0" anchor="ctr"/>
          <a:lstStyle/>
          <a:p>
            <a:pPr marL="0" indent="0">
              <a:lnSpc>
                <a:spcPct val="120000"/>
              </a:lnSpc>
              <a:buNone/>
            </a:pPr>
            <a:r>
              <a:rPr lang="en-US" sz="1200" dirty="0">
                <a:solidFill>
                  <a:srgbClr val="2C3E50"/>
                </a:solidFill>
                <a:latin typeface="Calibri" pitchFamily="34" charset="0"/>
                <a:ea typeface="Calibri" pitchFamily="34" charset="-122"/>
                <a:cs typeface="Calibri" pitchFamily="34" charset="-120"/>
              </a:rPr>
              <a:t>El servidor la procesa y consulta o guarda en la base de datos.</a:t>
            </a:r>
            <a:endParaRPr lang="en-US" sz="1200" dirty="0"/>
          </a:p>
        </p:txBody>
      </p:sp>
      <p:sp>
        <p:nvSpPr>
          <p:cNvPr id="17" name="Shape 15"/>
          <p:cNvSpPr/>
          <p:nvPr/>
        </p:nvSpPr>
        <p:spPr>
          <a:xfrm>
            <a:off x="347472" y="3913632"/>
            <a:ext cx="201168" cy="201168"/>
          </a:xfrm>
          <a:prstGeom prst="ellipse">
            <a:avLst/>
          </a:prstGeom>
          <a:solidFill>
            <a:srgbClr val="B03A2E"/>
          </a:solidFill>
          <a:ln w="12700">
            <a:solidFill>
              <a:srgbClr val="B03A2E"/>
            </a:solidFill>
            <a:prstDash val="solid"/>
          </a:ln>
        </p:spPr>
        <p:txBody>
          <a:bodyPr/>
          <a:lstStyle/>
          <a:p>
            <a:endParaRPr lang="es-ES"/>
          </a:p>
        </p:txBody>
      </p:sp>
      <p:sp>
        <p:nvSpPr>
          <p:cNvPr id="18" name="Text 16"/>
          <p:cNvSpPr/>
          <p:nvPr/>
        </p:nvSpPr>
        <p:spPr>
          <a:xfrm>
            <a:off x="347472" y="3913632"/>
            <a:ext cx="201168"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9" name="Text 17"/>
          <p:cNvSpPr/>
          <p:nvPr/>
        </p:nvSpPr>
        <p:spPr>
          <a:xfrm>
            <a:off x="621792" y="3822192"/>
            <a:ext cx="3840480" cy="384048"/>
          </a:xfrm>
          <a:prstGeom prst="rect">
            <a:avLst/>
          </a:prstGeom>
          <a:noFill/>
          <a:ln/>
        </p:spPr>
        <p:txBody>
          <a:bodyPr wrap="square" lIns="0" tIns="0" rIns="0" bIns="0" rtlCol="0" anchor="ctr"/>
          <a:lstStyle/>
          <a:p>
            <a:pPr marL="0" indent="0">
              <a:lnSpc>
                <a:spcPct val="120000"/>
              </a:lnSpc>
              <a:buNone/>
            </a:pPr>
            <a:r>
              <a:rPr lang="en-US" sz="1200" dirty="0">
                <a:solidFill>
                  <a:srgbClr val="2C3E50"/>
                </a:solidFill>
                <a:latin typeface="Calibri" pitchFamily="34" charset="0"/>
                <a:ea typeface="Calibri" pitchFamily="34" charset="-122"/>
                <a:cs typeface="Calibri" pitchFamily="34" charset="-120"/>
              </a:rPr>
              <a:t>La base de datos responde con los datos necesarios.</a:t>
            </a:r>
            <a:endParaRPr lang="en-US" sz="1200" dirty="0"/>
          </a:p>
        </p:txBody>
      </p:sp>
      <p:sp>
        <p:nvSpPr>
          <p:cNvPr id="20" name="Shape 18"/>
          <p:cNvSpPr/>
          <p:nvPr/>
        </p:nvSpPr>
        <p:spPr>
          <a:xfrm>
            <a:off x="347472" y="4352544"/>
            <a:ext cx="201168" cy="201168"/>
          </a:xfrm>
          <a:prstGeom prst="ellipse">
            <a:avLst/>
          </a:prstGeom>
          <a:solidFill>
            <a:srgbClr val="B03A2E"/>
          </a:solidFill>
          <a:ln w="12700">
            <a:solidFill>
              <a:srgbClr val="B03A2E"/>
            </a:solidFill>
            <a:prstDash val="solid"/>
          </a:ln>
        </p:spPr>
        <p:txBody>
          <a:bodyPr/>
          <a:lstStyle/>
          <a:p>
            <a:endParaRPr lang="es-ES"/>
          </a:p>
        </p:txBody>
      </p:sp>
      <p:sp>
        <p:nvSpPr>
          <p:cNvPr id="21" name="Text 19"/>
          <p:cNvSpPr/>
          <p:nvPr/>
        </p:nvSpPr>
        <p:spPr>
          <a:xfrm>
            <a:off x="347472" y="4352544"/>
            <a:ext cx="201168"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2" name="Text 20"/>
          <p:cNvSpPr/>
          <p:nvPr/>
        </p:nvSpPr>
        <p:spPr>
          <a:xfrm>
            <a:off x="621792" y="4261104"/>
            <a:ext cx="3840480" cy="384048"/>
          </a:xfrm>
          <a:prstGeom prst="rect">
            <a:avLst/>
          </a:prstGeom>
          <a:noFill/>
          <a:ln/>
        </p:spPr>
        <p:txBody>
          <a:bodyPr wrap="square" lIns="0" tIns="0" rIns="0" bIns="0" rtlCol="0" anchor="ctr"/>
          <a:lstStyle/>
          <a:p>
            <a:pPr marL="0" indent="0">
              <a:lnSpc>
                <a:spcPct val="120000"/>
              </a:lnSpc>
              <a:buNone/>
            </a:pPr>
            <a:r>
              <a:rPr lang="en-US" sz="1200" dirty="0">
                <a:solidFill>
                  <a:srgbClr val="2C3E50"/>
                </a:solidFill>
                <a:latin typeface="Calibri" pitchFamily="34" charset="0"/>
                <a:ea typeface="Calibri" pitchFamily="34" charset="-122"/>
                <a:cs typeface="Calibri" pitchFamily="34" charset="-120"/>
              </a:rPr>
              <a:t>El servidor devuelve el resultado y la pagina se actualiza.</a:t>
            </a:r>
            <a:endParaRPr lang="en-US" sz="1200" dirty="0"/>
          </a:p>
        </p:txBody>
      </p:sp>
      <p:sp>
        <p:nvSpPr>
          <p:cNvPr id="23" name="Shape 21"/>
          <p:cNvSpPr/>
          <p:nvPr/>
        </p:nvSpPr>
        <p:spPr>
          <a:xfrm>
            <a:off x="4663440" y="932688"/>
            <a:ext cx="256032" cy="1225296"/>
          </a:xfrm>
          <a:prstGeom prst="rect">
            <a:avLst/>
          </a:prstGeom>
          <a:solidFill>
            <a:srgbClr val="2980B9"/>
          </a:solidFill>
          <a:ln w="12700">
            <a:solidFill>
              <a:srgbClr val="2980B9"/>
            </a:solidFill>
            <a:prstDash val="solid"/>
          </a:ln>
        </p:spPr>
        <p:txBody>
          <a:bodyPr/>
          <a:lstStyle/>
          <a:p>
            <a:endParaRPr lang="es-ES"/>
          </a:p>
        </p:txBody>
      </p:sp>
      <p:sp>
        <p:nvSpPr>
          <p:cNvPr id="24" name="Shape 22"/>
          <p:cNvSpPr/>
          <p:nvPr/>
        </p:nvSpPr>
        <p:spPr>
          <a:xfrm>
            <a:off x="4919472" y="932688"/>
            <a:ext cx="3877056" cy="1225296"/>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25" name="Text 23"/>
          <p:cNvSpPr/>
          <p:nvPr/>
        </p:nvSpPr>
        <p:spPr>
          <a:xfrm>
            <a:off x="4974336" y="1024128"/>
            <a:ext cx="3749040" cy="329184"/>
          </a:xfrm>
          <a:prstGeom prst="rect">
            <a:avLst/>
          </a:prstGeom>
          <a:noFill/>
          <a:ln/>
        </p:spPr>
        <p:txBody>
          <a:bodyPr wrap="square" lIns="0" tIns="0" rIns="0" bIns="0" rtlCol="0" anchor="ctr"/>
          <a:lstStyle/>
          <a:p>
            <a:pPr marL="0" indent="0">
              <a:buNone/>
            </a:pPr>
            <a:r>
              <a:rPr lang="en-US" sz="1600" b="1" dirty="0">
                <a:solidFill>
                  <a:srgbClr val="1C2B4A"/>
                </a:solidFill>
                <a:latin typeface="Calibri" pitchFamily="34" charset="0"/>
                <a:ea typeface="Calibri" pitchFamily="34" charset="-122"/>
                <a:cs typeface="Calibri" pitchFamily="34" charset="-120"/>
              </a:rPr>
              <a:t>Interfaz web</a:t>
            </a:r>
            <a:endParaRPr lang="en-US" sz="1600" dirty="0"/>
          </a:p>
        </p:txBody>
      </p:sp>
      <p:sp>
        <p:nvSpPr>
          <p:cNvPr id="26" name="Text 24"/>
          <p:cNvSpPr/>
          <p:nvPr/>
        </p:nvSpPr>
        <p:spPr>
          <a:xfrm>
            <a:off x="4974336" y="1353312"/>
            <a:ext cx="3749040" cy="201168"/>
          </a:xfrm>
          <a:prstGeom prst="rect">
            <a:avLst/>
          </a:prstGeom>
          <a:noFill/>
          <a:ln/>
        </p:spPr>
        <p:txBody>
          <a:bodyPr wrap="square" lIns="0" tIns="0" rIns="0" bIns="0" rtlCol="0" anchor="ctr"/>
          <a:lstStyle/>
          <a:p>
            <a:pPr marL="0" indent="0">
              <a:buNone/>
            </a:pPr>
            <a:r>
              <a:rPr lang="en-US" sz="1000" b="1" kern="0" spc="100" dirty="0">
                <a:solidFill>
                  <a:srgbClr val="2980B9"/>
                </a:solidFill>
                <a:latin typeface="Calibri" pitchFamily="34" charset="0"/>
                <a:ea typeface="Calibri" pitchFamily="34" charset="-122"/>
                <a:cs typeface="Calibri" pitchFamily="34" charset="-120"/>
              </a:rPr>
              <a:t>HTML + CSS + JavaScript</a:t>
            </a:r>
            <a:endParaRPr lang="en-US" sz="1000" dirty="0"/>
          </a:p>
        </p:txBody>
      </p:sp>
      <p:sp>
        <p:nvSpPr>
          <p:cNvPr id="27" name="Text 25"/>
          <p:cNvSpPr/>
          <p:nvPr/>
        </p:nvSpPr>
        <p:spPr>
          <a:xfrm>
            <a:off x="4974336" y="1591056"/>
            <a:ext cx="3749040" cy="475488"/>
          </a:xfrm>
          <a:prstGeom prst="rect">
            <a:avLst/>
          </a:prstGeom>
          <a:noFill/>
          <a:ln/>
        </p:spPr>
        <p:txBody>
          <a:bodyPr wrap="square" lIns="0" tIns="0" rIns="0" bIns="0" rtlCol="0" anchor="t"/>
          <a:lstStyle/>
          <a:p>
            <a:pPr marL="0" indent="0" algn="l">
              <a:lnSpc>
                <a:spcPct val="120000"/>
              </a:lnSpc>
              <a:buNone/>
            </a:pPr>
            <a:r>
              <a:rPr lang="en-US" sz="1100" dirty="0">
                <a:solidFill>
                  <a:srgbClr val="5D6D7E"/>
                </a:solidFill>
                <a:latin typeface="Calibri" pitchFamily="34" charset="0"/>
                <a:ea typeface="Calibri" pitchFamily="34" charset="-122"/>
                <a:cs typeface="Calibri" pitchFamily="34" charset="-120"/>
              </a:rPr>
              <a:t>Todo lo que el usuario ve y con lo que interactua en el navegador. Las paginas se actualizan sin recargarse gracias a JavaScript.</a:t>
            </a:r>
            <a:endParaRPr lang="en-US" sz="1100" dirty="0"/>
          </a:p>
        </p:txBody>
      </p:sp>
      <p:sp>
        <p:nvSpPr>
          <p:cNvPr id="28" name="Shape 26"/>
          <p:cNvSpPr/>
          <p:nvPr/>
        </p:nvSpPr>
        <p:spPr>
          <a:xfrm>
            <a:off x="6858000" y="2157984"/>
            <a:ext cx="0" cy="146304"/>
          </a:xfrm>
          <a:prstGeom prst="line">
            <a:avLst/>
          </a:prstGeom>
          <a:noFill/>
          <a:ln w="12700">
            <a:solidFill>
              <a:srgbClr val="AEB6BF"/>
            </a:solidFill>
            <a:prstDash val="solid"/>
          </a:ln>
        </p:spPr>
        <p:txBody>
          <a:bodyPr/>
          <a:lstStyle/>
          <a:p>
            <a:endParaRPr lang="es-ES"/>
          </a:p>
        </p:txBody>
      </p:sp>
      <p:sp>
        <p:nvSpPr>
          <p:cNvPr id="29" name="Shape 27"/>
          <p:cNvSpPr/>
          <p:nvPr/>
        </p:nvSpPr>
        <p:spPr>
          <a:xfrm>
            <a:off x="4663440" y="2304288"/>
            <a:ext cx="256032" cy="1225296"/>
          </a:xfrm>
          <a:prstGeom prst="rect">
            <a:avLst/>
          </a:prstGeom>
          <a:solidFill>
            <a:srgbClr val="B03A2E"/>
          </a:solidFill>
          <a:ln w="12700">
            <a:solidFill>
              <a:srgbClr val="B03A2E"/>
            </a:solidFill>
            <a:prstDash val="solid"/>
          </a:ln>
        </p:spPr>
        <p:txBody>
          <a:bodyPr/>
          <a:lstStyle/>
          <a:p>
            <a:endParaRPr lang="es-ES"/>
          </a:p>
        </p:txBody>
      </p:sp>
      <p:sp>
        <p:nvSpPr>
          <p:cNvPr id="30" name="Shape 28"/>
          <p:cNvSpPr/>
          <p:nvPr/>
        </p:nvSpPr>
        <p:spPr>
          <a:xfrm>
            <a:off x="4919472" y="2304288"/>
            <a:ext cx="3877056" cy="1225296"/>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31" name="Text 29"/>
          <p:cNvSpPr/>
          <p:nvPr/>
        </p:nvSpPr>
        <p:spPr>
          <a:xfrm>
            <a:off x="4974336" y="2395728"/>
            <a:ext cx="3749040" cy="329184"/>
          </a:xfrm>
          <a:prstGeom prst="rect">
            <a:avLst/>
          </a:prstGeom>
          <a:noFill/>
          <a:ln/>
        </p:spPr>
        <p:txBody>
          <a:bodyPr wrap="square" lIns="0" tIns="0" rIns="0" bIns="0" rtlCol="0" anchor="ctr"/>
          <a:lstStyle/>
          <a:p>
            <a:pPr marL="0" indent="0">
              <a:buNone/>
            </a:pPr>
            <a:r>
              <a:rPr lang="en-US" sz="1600" b="1" dirty="0">
                <a:solidFill>
                  <a:srgbClr val="1C2B4A"/>
                </a:solidFill>
                <a:latin typeface="Calibri" pitchFamily="34" charset="0"/>
                <a:ea typeface="Calibri" pitchFamily="34" charset="-122"/>
                <a:cs typeface="Calibri" pitchFamily="34" charset="-120"/>
              </a:rPr>
              <a:t>Servidor</a:t>
            </a:r>
            <a:endParaRPr lang="en-US" sz="1600" dirty="0"/>
          </a:p>
        </p:txBody>
      </p:sp>
      <p:sp>
        <p:nvSpPr>
          <p:cNvPr id="32" name="Text 30"/>
          <p:cNvSpPr/>
          <p:nvPr/>
        </p:nvSpPr>
        <p:spPr>
          <a:xfrm>
            <a:off x="4974336" y="2724912"/>
            <a:ext cx="3749040" cy="201168"/>
          </a:xfrm>
          <a:prstGeom prst="rect">
            <a:avLst/>
          </a:prstGeom>
          <a:noFill/>
          <a:ln/>
        </p:spPr>
        <p:txBody>
          <a:bodyPr wrap="square" lIns="0" tIns="0" rIns="0" bIns="0" rtlCol="0" anchor="ctr"/>
          <a:lstStyle/>
          <a:p>
            <a:pPr marL="0" indent="0">
              <a:buNone/>
            </a:pPr>
            <a:r>
              <a:rPr lang="en-US" sz="1000" b="1" kern="0" spc="100" dirty="0">
                <a:solidFill>
                  <a:srgbClr val="B03A2E"/>
                </a:solidFill>
                <a:latin typeface="Calibri" pitchFamily="34" charset="0"/>
                <a:ea typeface="Calibri" pitchFamily="34" charset="-122"/>
                <a:cs typeface="Calibri" pitchFamily="34" charset="-120"/>
              </a:rPr>
              <a:t>Java + Spring Boot</a:t>
            </a:r>
            <a:endParaRPr lang="en-US" sz="1000" dirty="0"/>
          </a:p>
        </p:txBody>
      </p:sp>
      <p:sp>
        <p:nvSpPr>
          <p:cNvPr id="33" name="Text 31"/>
          <p:cNvSpPr/>
          <p:nvPr/>
        </p:nvSpPr>
        <p:spPr>
          <a:xfrm>
            <a:off x="4974336" y="2962656"/>
            <a:ext cx="3749040" cy="475488"/>
          </a:xfrm>
          <a:prstGeom prst="rect">
            <a:avLst/>
          </a:prstGeom>
          <a:noFill/>
          <a:ln/>
        </p:spPr>
        <p:txBody>
          <a:bodyPr wrap="square" lIns="0" tIns="0" rIns="0" bIns="0" rtlCol="0" anchor="t"/>
          <a:lstStyle/>
          <a:p>
            <a:pPr marL="0" indent="0" algn="l">
              <a:lnSpc>
                <a:spcPct val="120000"/>
              </a:lnSpc>
              <a:buNone/>
            </a:pPr>
            <a:r>
              <a:rPr lang="en-US" sz="1100" dirty="0">
                <a:solidFill>
                  <a:srgbClr val="5D6D7E"/>
                </a:solidFill>
                <a:latin typeface="Calibri" pitchFamily="34" charset="0"/>
                <a:ea typeface="Calibri" pitchFamily="34" charset="-122"/>
                <a:cs typeface="Calibri" pitchFamily="34" charset="-120"/>
              </a:rPr>
              <a:t>El motor de la aplicacion. Recibe las peticiones del navegador, decide que hacer y devuelve la respuesta. Es lo que el usuario no ve pero que hace que todo funcione.</a:t>
            </a:r>
            <a:endParaRPr lang="en-US" sz="1100" dirty="0"/>
          </a:p>
        </p:txBody>
      </p:sp>
      <p:sp>
        <p:nvSpPr>
          <p:cNvPr id="34" name="Shape 32"/>
          <p:cNvSpPr/>
          <p:nvPr/>
        </p:nvSpPr>
        <p:spPr>
          <a:xfrm>
            <a:off x="6858000" y="3529584"/>
            <a:ext cx="0" cy="146304"/>
          </a:xfrm>
          <a:prstGeom prst="line">
            <a:avLst/>
          </a:prstGeom>
          <a:noFill/>
          <a:ln w="12700">
            <a:solidFill>
              <a:srgbClr val="AEB6BF"/>
            </a:solidFill>
            <a:prstDash val="solid"/>
          </a:ln>
        </p:spPr>
        <p:txBody>
          <a:bodyPr/>
          <a:lstStyle/>
          <a:p>
            <a:endParaRPr lang="es-ES"/>
          </a:p>
        </p:txBody>
      </p:sp>
      <p:sp>
        <p:nvSpPr>
          <p:cNvPr id="35" name="Shape 33"/>
          <p:cNvSpPr/>
          <p:nvPr/>
        </p:nvSpPr>
        <p:spPr>
          <a:xfrm>
            <a:off x="4663440" y="3675888"/>
            <a:ext cx="256032" cy="1225296"/>
          </a:xfrm>
          <a:prstGeom prst="rect">
            <a:avLst/>
          </a:prstGeom>
          <a:solidFill>
            <a:srgbClr val="1A7A4A"/>
          </a:solidFill>
          <a:ln w="12700">
            <a:solidFill>
              <a:srgbClr val="1A7A4A"/>
            </a:solidFill>
            <a:prstDash val="solid"/>
          </a:ln>
        </p:spPr>
        <p:txBody>
          <a:bodyPr/>
          <a:lstStyle/>
          <a:p>
            <a:endParaRPr lang="es-ES"/>
          </a:p>
        </p:txBody>
      </p:sp>
      <p:sp>
        <p:nvSpPr>
          <p:cNvPr id="36" name="Shape 34"/>
          <p:cNvSpPr/>
          <p:nvPr/>
        </p:nvSpPr>
        <p:spPr>
          <a:xfrm>
            <a:off x="4919472" y="3675888"/>
            <a:ext cx="3877056" cy="1225296"/>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37" name="Text 35"/>
          <p:cNvSpPr/>
          <p:nvPr/>
        </p:nvSpPr>
        <p:spPr>
          <a:xfrm>
            <a:off x="4974336" y="3767328"/>
            <a:ext cx="3749040" cy="329184"/>
          </a:xfrm>
          <a:prstGeom prst="rect">
            <a:avLst/>
          </a:prstGeom>
          <a:noFill/>
          <a:ln/>
        </p:spPr>
        <p:txBody>
          <a:bodyPr wrap="square" lIns="0" tIns="0" rIns="0" bIns="0" rtlCol="0" anchor="ctr"/>
          <a:lstStyle/>
          <a:p>
            <a:pPr marL="0" indent="0">
              <a:buNone/>
            </a:pPr>
            <a:r>
              <a:rPr lang="en-US" sz="1600" b="1" dirty="0">
                <a:solidFill>
                  <a:srgbClr val="1C2B4A"/>
                </a:solidFill>
                <a:latin typeface="Calibri" pitchFamily="34" charset="0"/>
                <a:ea typeface="Calibri" pitchFamily="34" charset="-122"/>
                <a:cs typeface="Calibri" pitchFamily="34" charset="-120"/>
              </a:rPr>
              <a:t>Base de datos</a:t>
            </a:r>
            <a:endParaRPr lang="en-US" sz="1600" dirty="0"/>
          </a:p>
        </p:txBody>
      </p:sp>
      <p:sp>
        <p:nvSpPr>
          <p:cNvPr id="38" name="Text 36"/>
          <p:cNvSpPr/>
          <p:nvPr/>
        </p:nvSpPr>
        <p:spPr>
          <a:xfrm>
            <a:off x="4974336" y="4096512"/>
            <a:ext cx="3749040" cy="201168"/>
          </a:xfrm>
          <a:prstGeom prst="rect">
            <a:avLst/>
          </a:prstGeom>
          <a:noFill/>
          <a:ln/>
        </p:spPr>
        <p:txBody>
          <a:bodyPr wrap="square" lIns="0" tIns="0" rIns="0" bIns="0" rtlCol="0" anchor="ctr"/>
          <a:lstStyle/>
          <a:p>
            <a:pPr marL="0" indent="0">
              <a:buNone/>
            </a:pPr>
            <a:r>
              <a:rPr lang="en-US" sz="1000" b="1" kern="0" spc="100" dirty="0">
                <a:solidFill>
                  <a:srgbClr val="1A7A4A"/>
                </a:solidFill>
                <a:latin typeface="Calibri" pitchFamily="34" charset="0"/>
                <a:ea typeface="Calibri" pitchFamily="34" charset="-122"/>
                <a:cs typeface="Calibri" pitchFamily="34" charset="-120"/>
              </a:rPr>
              <a:t>MySQL dentro de Docker</a:t>
            </a:r>
            <a:endParaRPr lang="en-US" sz="1000" dirty="0"/>
          </a:p>
        </p:txBody>
      </p:sp>
      <p:sp>
        <p:nvSpPr>
          <p:cNvPr id="39" name="Text 37"/>
          <p:cNvSpPr/>
          <p:nvPr/>
        </p:nvSpPr>
        <p:spPr>
          <a:xfrm>
            <a:off x="4974336" y="4334256"/>
            <a:ext cx="3749040" cy="475488"/>
          </a:xfrm>
          <a:prstGeom prst="rect">
            <a:avLst/>
          </a:prstGeom>
          <a:noFill/>
          <a:ln/>
        </p:spPr>
        <p:txBody>
          <a:bodyPr wrap="square" lIns="0" tIns="0" rIns="0" bIns="0" rtlCol="0" anchor="t"/>
          <a:lstStyle/>
          <a:p>
            <a:pPr marL="0" indent="0" algn="l">
              <a:lnSpc>
                <a:spcPct val="120000"/>
              </a:lnSpc>
              <a:buNone/>
            </a:pPr>
            <a:r>
              <a:rPr lang="en-US" sz="1100" dirty="0">
                <a:solidFill>
                  <a:srgbClr val="5D6D7E"/>
                </a:solidFill>
                <a:latin typeface="Calibri" pitchFamily="34" charset="0"/>
                <a:ea typeface="Calibri" pitchFamily="34" charset="-122"/>
                <a:cs typeface="Calibri" pitchFamily="34" charset="-120"/>
              </a:rPr>
              <a:t>El almacen de toda la informacion: usuarios, tecnologias, likes y matches. Docker es un sistema que permite ejecutarla de forma sencilla y controlada.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C2B4A"/>
          </a:solidFill>
          <a:ln w="12700">
            <a:solidFill>
              <a:srgbClr val="1C2B4A"/>
            </a:solidFill>
            <a:prstDash val="solid"/>
          </a:ln>
        </p:spPr>
        <p:txBody>
          <a:bodyPr/>
          <a:lstStyle/>
          <a:p>
            <a:endParaRPr lang="es-ES"/>
          </a:p>
        </p:txBody>
      </p:sp>
      <p:sp>
        <p:nvSpPr>
          <p:cNvPr id="3" name="Text 1"/>
          <p:cNvSpPr/>
          <p:nvPr/>
        </p:nvSpPr>
        <p:spPr>
          <a:xfrm>
            <a:off x="347472" y="36576"/>
            <a:ext cx="8595360" cy="201168"/>
          </a:xfrm>
          <a:prstGeom prst="rect">
            <a:avLst/>
          </a:prstGeom>
          <a:noFill/>
          <a:ln/>
        </p:spPr>
        <p:txBody>
          <a:bodyPr wrap="square" lIns="0" tIns="0" rIns="0" bIns="0" rtlCol="0" anchor="ctr"/>
          <a:lstStyle/>
          <a:p>
            <a:pPr marL="0" indent="0">
              <a:buNone/>
            </a:pPr>
            <a:r>
              <a:rPr lang="en-US" sz="900" b="1" kern="0" spc="300" dirty="0">
                <a:solidFill>
                  <a:srgbClr val="B03A2E"/>
                </a:solidFill>
                <a:latin typeface="Calibri" pitchFamily="34" charset="0"/>
                <a:ea typeface="Calibri" pitchFamily="34" charset="-122"/>
                <a:cs typeface="Calibri" pitchFamily="34" charset="-120"/>
              </a:rPr>
              <a:t>BASES DE DATOS</a:t>
            </a:r>
            <a:endParaRPr lang="en-US" sz="900" dirty="0"/>
          </a:p>
        </p:txBody>
      </p:sp>
      <p:sp>
        <p:nvSpPr>
          <p:cNvPr id="4" name="Text 2"/>
          <p:cNvSpPr/>
          <p:nvPr/>
        </p:nvSpPr>
        <p:spPr>
          <a:xfrm>
            <a:off x="347472" y="164592"/>
            <a:ext cx="8595360" cy="566928"/>
          </a:xfrm>
          <a:prstGeom prst="rect">
            <a:avLst/>
          </a:prstGeom>
          <a:noFill/>
          <a:ln/>
        </p:spPr>
        <p:txBody>
          <a:bodyPr wrap="square" lIns="0" tIns="0" rIns="0" bIns="0" rtlCol="0" anchor="ctr"/>
          <a:lstStyle/>
          <a:p>
            <a:pPr marL="0" indent="0" algn="l">
              <a:buNone/>
            </a:pPr>
            <a:r>
              <a:rPr lang="en-US" sz="2700" b="1" dirty="0">
                <a:solidFill>
                  <a:srgbClr val="1C2B4A"/>
                </a:solidFill>
                <a:latin typeface="Calibri" pitchFamily="34" charset="0"/>
                <a:ea typeface="Calibri" pitchFamily="34" charset="-122"/>
                <a:cs typeface="Calibri" pitchFamily="34" charset="-120"/>
              </a:rPr>
              <a:t>Como se guarda la informacion</a:t>
            </a:r>
            <a:endParaRPr lang="en-US" sz="2700" dirty="0"/>
          </a:p>
        </p:txBody>
      </p:sp>
      <p:sp>
        <p:nvSpPr>
          <p:cNvPr id="5" name="Shape 3"/>
          <p:cNvSpPr/>
          <p:nvPr/>
        </p:nvSpPr>
        <p:spPr>
          <a:xfrm>
            <a:off x="347472" y="768096"/>
            <a:ext cx="8449056" cy="0"/>
          </a:xfrm>
          <a:prstGeom prst="line">
            <a:avLst/>
          </a:prstGeom>
          <a:noFill/>
          <a:ln w="8890">
            <a:solidFill>
              <a:srgbClr val="AEB6BF"/>
            </a:solidFill>
            <a:prstDash val="solid"/>
          </a:ln>
        </p:spPr>
        <p:txBody>
          <a:bodyPr/>
          <a:lstStyle/>
          <a:p>
            <a:endParaRPr lang="es-ES"/>
          </a:p>
        </p:txBody>
      </p:sp>
      <p:sp>
        <p:nvSpPr>
          <p:cNvPr id="6" name="Shape 4"/>
          <p:cNvSpPr/>
          <p:nvPr/>
        </p:nvSpPr>
        <p:spPr>
          <a:xfrm>
            <a:off x="347472" y="896112"/>
            <a:ext cx="1920240" cy="914400"/>
          </a:xfrm>
          <a:prstGeom prst="rect">
            <a:avLst/>
          </a:prstGeom>
          <a:solidFill>
            <a:srgbClr val="1C2B4A"/>
          </a:solidFill>
          <a:ln w="12700">
            <a:solidFill>
              <a:srgbClr val="1C2B4A"/>
            </a:solidFill>
            <a:prstDash val="solid"/>
          </a:ln>
        </p:spPr>
        <p:txBody>
          <a:bodyPr/>
          <a:lstStyle/>
          <a:p>
            <a:endParaRPr lang="es-ES"/>
          </a:p>
        </p:txBody>
      </p:sp>
      <p:sp>
        <p:nvSpPr>
          <p:cNvPr id="7" name="Text 5"/>
          <p:cNvSpPr/>
          <p:nvPr/>
        </p:nvSpPr>
        <p:spPr>
          <a:xfrm>
            <a:off x="347472" y="950976"/>
            <a:ext cx="1920240" cy="502920"/>
          </a:xfrm>
          <a:prstGeom prst="rect">
            <a:avLst/>
          </a:prstGeom>
          <a:noFill/>
          <a:ln/>
        </p:spPr>
        <p:txBody>
          <a:bodyPr wrap="square" lIns="0" tIns="0" rIns="0" bIns="0"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5</a:t>
            </a:r>
            <a:endParaRPr lang="en-US" sz="3400" dirty="0"/>
          </a:p>
        </p:txBody>
      </p:sp>
      <p:sp>
        <p:nvSpPr>
          <p:cNvPr id="8" name="Text 6"/>
          <p:cNvSpPr/>
          <p:nvPr/>
        </p:nvSpPr>
        <p:spPr>
          <a:xfrm>
            <a:off x="347472" y="1426464"/>
            <a:ext cx="1920240" cy="347472"/>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Tablas</a:t>
            </a:r>
            <a:endParaRPr lang="en-US" sz="1100" dirty="0"/>
          </a:p>
        </p:txBody>
      </p:sp>
      <p:sp>
        <p:nvSpPr>
          <p:cNvPr id="9" name="Shape 7"/>
          <p:cNvSpPr/>
          <p:nvPr/>
        </p:nvSpPr>
        <p:spPr>
          <a:xfrm>
            <a:off x="2468880" y="896112"/>
            <a:ext cx="1920240" cy="914400"/>
          </a:xfrm>
          <a:prstGeom prst="rect">
            <a:avLst/>
          </a:prstGeom>
          <a:solidFill>
            <a:srgbClr val="B03A2E"/>
          </a:solidFill>
          <a:ln w="12700">
            <a:solidFill>
              <a:srgbClr val="B03A2E"/>
            </a:solidFill>
            <a:prstDash val="solid"/>
          </a:ln>
        </p:spPr>
        <p:txBody>
          <a:bodyPr/>
          <a:lstStyle/>
          <a:p>
            <a:endParaRPr lang="es-ES"/>
          </a:p>
        </p:txBody>
      </p:sp>
      <p:sp>
        <p:nvSpPr>
          <p:cNvPr id="10" name="Text 8"/>
          <p:cNvSpPr/>
          <p:nvPr/>
        </p:nvSpPr>
        <p:spPr>
          <a:xfrm>
            <a:off x="2468880" y="950976"/>
            <a:ext cx="1920240" cy="502920"/>
          </a:xfrm>
          <a:prstGeom prst="rect">
            <a:avLst/>
          </a:prstGeom>
          <a:noFill/>
          <a:ln/>
        </p:spPr>
        <p:txBody>
          <a:bodyPr wrap="square" lIns="0" tIns="0" rIns="0" bIns="0"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3</a:t>
            </a:r>
            <a:endParaRPr lang="en-US" sz="3400" dirty="0"/>
          </a:p>
        </p:txBody>
      </p:sp>
      <p:sp>
        <p:nvSpPr>
          <p:cNvPr id="11" name="Text 9"/>
          <p:cNvSpPr/>
          <p:nvPr/>
        </p:nvSpPr>
        <p:spPr>
          <a:xfrm>
            <a:off x="2468880" y="1426464"/>
            <a:ext cx="1920240" cy="347472"/>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Procedimientos</a:t>
            </a:r>
            <a:endParaRPr lang="en-US" sz="1100" dirty="0"/>
          </a:p>
        </p:txBody>
      </p:sp>
      <p:sp>
        <p:nvSpPr>
          <p:cNvPr id="12" name="Shape 10"/>
          <p:cNvSpPr/>
          <p:nvPr/>
        </p:nvSpPr>
        <p:spPr>
          <a:xfrm>
            <a:off x="4590288" y="896112"/>
            <a:ext cx="1920240" cy="914400"/>
          </a:xfrm>
          <a:prstGeom prst="rect">
            <a:avLst/>
          </a:prstGeom>
          <a:solidFill>
            <a:srgbClr val="1A7A4A"/>
          </a:solidFill>
          <a:ln w="12700">
            <a:solidFill>
              <a:srgbClr val="1A7A4A"/>
            </a:solidFill>
            <a:prstDash val="solid"/>
          </a:ln>
        </p:spPr>
        <p:txBody>
          <a:bodyPr/>
          <a:lstStyle/>
          <a:p>
            <a:endParaRPr lang="es-ES"/>
          </a:p>
        </p:txBody>
      </p:sp>
      <p:sp>
        <p:nvSpPr>
          <p:cNvPr id="13" name="Text 11"/>
          <p:cNvSpPr/>
          <p:nvPr/>
        </p:nvSpPr>
        <p:spPr>
          <a:xfrm>
            <a:off x="4590288" y="950976"/>
            <a:ext cx="1920240" cy="502920"/>
          </a:xfrm>
          <a:prstGeom prst="rect">
            <a:avLst/>
          </a:prstGeom>
          <a:noFill/>
          <a:ln/>
        </p:spPr>
        <p:txBody>
          <a:bodyPr wrap="square" lIns="0" tIns="0" rIns="0" bIns="0"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1</a:t>
            </a:r>
            <a:endParaRPr lang="en-US" sz="3400" dirty="0"/>
          </a:p>
        </p:txBody>
      </p:sp>
      <p:sp>
        <p:nvSpPr>
          <p:cNvPr id="14" name="Text 12"/>
          <p:cNvSpPr/>
          <p:nvPr/>
        </p:nvSpPr>
        <p:spPr>
          <a:xfrm>
            <a:off x="4590288" y="1426464"/>
            <a:ext cx="1920240" cy="347472"/>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Trigger</a:t>
            </a:r>
            <a:endParaRPr lang="en-US" sz="1100" dirty="0"/>
          </a:p>
        </p:txBody>
      </p:sp>
      <p:sp>
        <p:nvSpPr>
          <p:cNvPr id="15" name="Shape 13"/>
          <p:cNvSpPr/>
          <p:nvPr/>
        </p:nvSpPr>
        <p:spPr>
          <a:xfrm>
            <a:off x="6711696" y="896112"/>
            <a:ext cx="1920240" cy="914400"/>
          </a:xfrm>
          <a:prstGeom prst="rect">
            <a:avLst/>
          </a:prstGeom>
          <a:solidFill>
            <a:srgbClr val="7D3C98"/>
          </a:solidFill>
          <a:ln w="12700">
            <a:solidFill>
              <a:srgbClr val="7D3C98"/>
            </a:solidFill>
            <a:prstDash val="solid"/>
          </a:ln>
        </p:spPr>
        <p:txBody>
          <a:bodyPr/>
          <a:lstStyle/>
          <a:p>
            <a:endParaRPr lang="es-ES"/>
          </a:p>
        </p:txBody>
      </p:sp>
      <p:sp>
        <p:nvSpPr>
          <p:cNvPr id="16" name="Text 14"/>
          <p:cNvSpPr/>
          <p:nvPr/>
        </p:nvSpPr>
        <p:spPr>
          <a:xfrm>
            <a:off x="6711696" y="950976"/>
            <a:ext cx="1920240" cy="502920"/>
          </a:xfrm>
          <a:prstGeom prst="rect">
            <a:avLst/>
          </a:prstGeom>
          <a:noFill/>
          <a:ln/>
        </p:spPr>
        <p:txBody>
          <a:bodyPr wrap="square" lIns="0" tIns="0" rIns="0" bIns="0"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8</a:t>
            </a:r>
            <a:endParaRPr lang="en-US" sz="3400" dirty="0"/>
          </a:p>
        </p:txBody>
      </p:sp>
      <p:sp>
        <p:nvSpPr>
          <p:cNvPr id="17" name="Text 15"/>
          <p:cNvSpPr/>
          <p:nvPr/>
        </p:nvSpPr>
        <p:spPr>
          <a:xfrm>
            <a:off x="6711696" y="1426464"/>
            <a:ext cx="1920240" cy="347472"/>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Consultas SQL</a:t>
            </a:r>
            <a:endParaRPr lang="en-US" sz="1100" dirty="0"/>
          </a:p>
        </p:txBody>
      </p:sp>
      <p:sp>
        <p:nvSpPr>
          <p:cNvPr id="18" name="Text 16"/>
          <p:cNvSpPr/>
          <p:nvPr/>
        </p:nvSpPr>
        <p:spPr>
          <a:xfrm>
            <a:off x="347472" y="1938528"/>
            <a:ext cx="2834640"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Mapa de la base de datos</a:t>
            </a:r>
            <a:endParaRPr lang="en-US" sz="1200" dirty="0"/>
          </a:p>
        </p:txBody>
      </p:sp>
      <p:pic>
        <p:nvPicPr>
          <p:cNvPr id="19" name="Image 0" descr="/tmp/p_eer.png"/>
          <p:cNvPicPr>
            <a:picLocks noChangeAspect="1"/>
          </p:cNvPicPr>
          <p:nvPr/>
        </p:nvPicPr>
        <p:blipFill>
          <a:blip r:embed="rId3"/>
          <a:stretch>
            <a:fillRect/>
          </a:stretch>
        </p:blipFill>
        <p:spPr>
          <a:xfrm>
            <a:off x="648784" y="2231136"/>
            <a:ext cx="2232015" cy="2670048"/>
          </a:xfrm>
          <a:prstGeom prst="rect">
            <a:avLst/>
          </a:prstGeom>
        </p:spPr>
      </p:pic>
      <p:sp>
        <p:nvSpPr>
          <p:cNvPr id="20" name="Text 17"/>
          <p:cNvSpPr/>
          <p:nvPr/>
        </p:nvSpPr>
        <p:spPr>
          <a:xfrm>
            <a:off x="3401568" y="1938528"/>
            <a:ext cx="5394960"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Para que sirve cada tabla</a:t>
            </a:r>
            <a:endParaRPr lang="en-US" sz="1200" dirty="0"/>
          </a:p>
        </p:txBody>
      </p:sp>
      <p:sp>
        <p:nvSpPr>
          <p:cNvPr id="21" name="Shape 18"/>
          <p:cNvSpPr/>
          <p:nvPr/>
        </p:nvSpPr>
        <p:spPr>
          <a:xfrm>
            <a:off x="3401568" y="2276856"/>
            <a:ext cx="109728" cy="109728"/>
          </a:xfrm>
          <a:prstGeom prst="rect">
            <a:avLst/>
          </a:prstGeom>
          <a:solidFill>
            <a:srgbClr val="B03A2E"/>
          </a:solidFill>
          <a:ln w="12700">
            <a:solidFill>
              <a:srgbClr val="B03A2E"/>
            </a:solidFill>
            <a:prstDash val="solid"/>
          </a:ln>
        </p:spPr>
        <p:txBody>
          <a:bodyPr/>
          <a:lstStyle/>
          <a:p>
            <a:endParaRPr lang="es-ES"/>
          </a:p>
        </p:txBody>
      </p:sp>
      <p:sp>
        <p:nvSpPr>
          <p:cNvPr id="22" name="Text 19"/>
          <p:cNvSpPr/>
          <p:nvPr/>
        </p:nvSpPr>
        <p:spPr>
          <a:xfrm>
            <a:off x="3584448" y="2231136"/>
            <a:ext cx="1371600" cy="219456"/>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Usuarios:</a:t>
            </a:r>
            <a:endParaRPr lang="en-US" sz="1200" dirty="0"/>
          </a:p>
        </p:txBody>
      </p:sp>
      <p:sp>
        <p:nvSpPr>
          <p:cNvPr id="23" name="Text 20"/>
          <p:cNvSpPr/>
          <p:nvPr/>
        </p:nvSpPr>
        <p:spPr>
          <a:xfrm>
            <a:off x="3584448" y="2468880"/>
            <a:ext cx="5212080" cy="274320"/>
          </a:xfrm>
          <a:prstGeom prst="rect">
            <a:avLst/>
          </a:prstGeom>
          <a:noFill/>
          <a:ln/>
        </p:spPr>
        <p:txBody>
          <a:bodyPr wrap="square" lIns="0" tIns="0" rIns="0" bIns="0" rtlCol="0" anchor="ctr"/>
          <a:lstStyle/>
          <a:p>
            <a:pPr marL="0" indent="0">
              <a:lnSpc>
                <a:spcPct val="120000"/>
              </a:lnSpc>
              <a:buNone/>
            </a:pPr>
            <a:r>
              <a:rPr lang="en-US" sz="1100" dirty="0">
                <a:solidFill>
                  <a:srgbClr val="5D6D7E"/>
                </a:solidFill>
                <a:latin typeface="Calibri" pitchFamily="34" charset="0"/>
                <a:ea typeface="Calibri" pitchFamily="34" charset="-122"/>
                <a:cs typeface="Calibri" pitchFamily="34" charset="-120"/>
              </a:rPr>
              <a:t>Guarda el nombre, email y contrasena de cada persona registrada en la aplicacion.</a:t>
            </a:r>
            <a:endParaRPr lang="en-US" sz="1100" dirty="0"/>
          </a:p>
        </p:txBody>
      </p:sp>
      <p:sp>
        <p:nvSpPr>
          <p:cNvPr id="24" name="Shape 21"/>
          <p:cNvSpPr/>
          <p:nvPr/>
        </p:nvSpPr>
        <p:spPr>
          <a:xfrm>
            <a:off x="3401568" y="2843784"/>
            <a:ext cx="109728" cy="109728"/>
          </a:xfrm>
          <a:prstGeom prst="rect">
            <a:avLst/>
          </a:prstGeom>
          <a:solidFill>
            <a:srgbClr val="B03A2E"/>
          </a:solidFill>
          <a:ln w="12700">
            <a:solidFill>
              <a:srgbClr val="B03A2E"/>
            </a:solidFill>
            <a:prstDash val="solid"/>
          </a:ln>
        </p:spPr>
        <p:txBody>
          <a:bodyPr/>
          <a:lstStyle/>
          <a:p>
            <a:endParaRPr lang="es-ES"/>
          </a:p>
        </p:txBody>
      </p:sp>
      <p:sp>
        <p:nvSpPr>
          <p:cNvPr id="25" name="Text 22"/>
          <p:cNvSpPr/>
          <p:nvPr/>
        </p:nvSpPr>
        <p:spPr>
          <a:xfrm>
            <a:off x="3584448" y="2798064"/>
            <a:ext cx="1371600" cy="219456"/>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Tecnologias:</a:t>
            </a:r>
            <a:endParaRPr lang="en-US" sz="1200" dirty="0"/>
          </a:p>
        </p:txBody>
      </p:sp>
      <p:sp>
        <p:nvSpPr>
          <p:cNvPr id="26" name="Text 23"/>
          <p:cNvSpPr/>
          <p:nvPr/>
        </p:nvSpPr>
        <p:spPr>
          <a:xfrm>
            <a:off x="3584448" y="3035808"/>
            <a:ext cx="5212080" cy="274320"/>
          </a:xfrm>
          <a:prstGeom prst="rect">
            <a:avLst/>
          </a:prstGeom>
          <a:noFill/>
          <a:ln/>
        </p:spPr>
        <p:txBody>
          <a:bodyPr wrap="square" lIns="0" tIns="0" rIns="0" bIns="0" rtlCol="0" anchor="ctr"/>
          <a:lstStyle/>
          <a:p>
            <a:pPr marL="0" indent="0">
              <a:lnSpc>
                <a:spcPct val="120000"/>
              </a:lnSpc>
              <a:buNone/>
            </a:pPr>
            <a:r>
              <a:rPr lang="en-US" sz="1100" dirty="0">
                <a:solidFill>
                  <a:srgbClr val="5D6D7E"/>
                </a:solidFill>
                <a:latin typeface="Calibri" pitchFamily="34" charset="0"/>
                <a:ea typeface="Calibri" pitchFamily="34" charset="-122"/>
                <a:cs typeface="Calibri" pitchFamily="34" charset="-120"/>
              </a:rPr>
              <a:t>Lista de tecnologias disponibles: Java, Python, React, SQL...</a:t>
            </a:r>
            <a:endParaRPr lang="en-US" sz="1100" dirty="0"/>
          </a:p>
        </p:txBody>
      </p:sp>
      <p:sp>
        <p:nvSpPr>
          <p:cNvPr id="27" name="Shape 24"/>
          <p:cNvSpPr/>
          <p:nvPr/>
        </p:nvSpPr>
        <p:spPr>
          <a:xfrm>
            <a:off x="3401568" y="3410712"/>
            <a:ext cx="109728" cy="109728"/>
          </a:xfrm>
          <a:prstGeom prst="rect">
            <a:avLst/>
          </a:prstGeom>
          <a:solidFill>
            <a:srgbClr val="B03A2E"/>
          </a:solidFill>
          <a:ln w="12700">
            <a:solidFill>
              <a:srgbClr val="B03A2E"/>
            </a:solidFill>
            <a:prstDash val="solid"/>
          </a:ln>
        </p:spPr>
        <p:txBody>
          <a:bodyPr/>
          <a:lstStyle/>
          <a:p>
            <a:endParaRPr lang="es-ES"/>
          </a:p>
        </p:txBody>
      </p:sp>
      <p:sp>
        <p:nvSpPr>
          <p:cNvPr id="28" name="Text 25"/>
          <p:cNvSpPr/>
          <p:nvPr/>
        </p:nvSpPr>
        <p:spPr>
          <a:xfrm>
            <a:off x="3584448" y="3364992"/>
            <a:ext cx="1371600" cy="219456"/>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Usuarios_Tecnologias:</a:t>
            </a:r>
            <a:endParaRPr lang="en-US" sz="1200" dirty="0"/>
          </a:p>
        </p:txBody>
      </p:sp>
      <p:sp>
        <p:nvSpPr>
          <p:cNvPr id="29" name="Text 26"/>
          <p:cNvSpPr/>
          <p:nvPr/>
        </p:nvSpPr>
        <p:spPr>
          <a:xfrm>
            <a:off x="3584448" y="3602736"/>
            <a:ext cx="5212080" cy="274320"/>
          </a:xfrm>
          <a:prstGeom prst="rect">
            <a:avLst/>
          </a:prstGeom>
          <a:noFill/>
          <a:ln/>
        </p:spPr>
        <p:txBody>
          <a:bodyPr wrap="square" lIns="0" tIns="0" rIns="0" bIns="0" rtlCol="0" anchor="ctr"/>
          <a:lstStyle/>
          <a:p>
            <a:pPr marL="0" indent="0">
              <a:lnSpc>
                <a:spcPct val="120000"/>
              </a:lnSpc>
              <a:buNone/>
            </a:pPr>
            <a:r>
              <a:rPr lang="en-US" sz="1100" dirty="0">
                <a:solidFill>
                  <a:srgbClr val="5D6D7E"/>
                </a:solidFill>
                <a:latin typeface="Calibri" pitchFamily="34" charset="0"/>
                <a:ea typeface="Calibri" pitchFamily="34" charset="-122"/>
                <a:cs typeface="Calibri" pitchFamily="34" charset="-120"/>
              </a:rPr>
              <a:t>Une a cada usuario con sus tecnologias. Un usuario puede tener varias y viceversa.</a:t>
            </a:r>
            <a:endParaRPr lang="en-US" sz="1100" dirty="0"/>
          </a:p>
        </p:txBody>
      </p:sp>
      <p:sp>
        <p:nvSpPr>
          <p:cNvPr id="30" name="Shape 27"/>
          <p:cNvSpPr/>
          <p:nvPr/>
        </p:nvSpPr>
        <p:spPr>
          <a:xfrm>
            <a:off x="3401568" y="3977640"/>
            <a:ext cx="109728" cy="109728"/>
          </a:xfrm>
          <a:prstGeom prst="rect">
            <a:avLst/>
          </a:prstGeom>
          <a:solidFill>
            <a:srgbClr val="B03A2E"/>
          </a:solidFill>
          <a:ln w="12700">
            <a:solidFill>
              <a:srgbClr val="B03A2E"/>
            </a:solidFill>
            <a:prstDash val="solid"/>
          </a:ln>
        </p:spPr>
        <p:txBody>
          <a:bodyPr/>
          <a:lstStyle/>
          <a:p>
            <a:endParaRPr lang="es-ES"/>
          </a:p>
        </p:txBody>
      </p:sp>
      <p:sp>
        <p:nvSpPr>
          <p:cNvPr id="31" name="Text 28"/>
          <p:cNvSpPr/>
          <p:nvPr/>
        </p:nvSpPr>
        <p:spPr>
          <a:xfrm>
            <a:off x="3584448" y="3931920"/>
            <a:ext cx="1371600" cy="219456"/>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Likes:</a:t>
            </a:r>
            <a:endParaRPr lang="en-US" sz="1200" dirty="0"/>
          </a:p>
        </p:txBody>
      </p:sp>
      <p:sp>
        <p:nvSpPr>
          <p:cNvPr id="32" name="Text 29"/>
          <p:cNvSpPr/>
          <p:nvPr/>
        </p:nvSpPr>
        <p:spPr>
          <a:xfrm>
            <a:off x="3584448" y="4169664"/>
            <a:ext cx="5212080" cy="274320"/>
          </a:xfrm>
          <a:prstGeom prst="rect">
            <a:avLst/>
          </a:prstGeom>
          <a:noFill/>
          <a:ln/>
        </p:spPr>
        <p:txBody>
          <a:bodyPr wrap="square" lIns="0" tIns="0" rIns="0" bIns="0" rtlCol="0" anchor="ctr"/>
          <a:lstStyle/>
          <a:p>
            <a:pPr marL="0" indent="0">
              <a:lnSpc>
                <a:spcPct val="120000"/>
              </a:lnSpc>
              <a:buNone/>
            </a:pPr>
            <a:r>
              <a:rPr lang="en-US" sz="1100" dirty="0">
                <a:solidFill>
                  <a:srgbClr val="5D6D7E"/>
                </a:solidFill>
                <a:latin typeface="Calibri" pitchFamily="34" charset="0"/>
                <a:ea typeface="Calibri" pitchFamily="34" charset="-122"/>
                <a:cs typeface="Calibri" pitchFamily="34" charset="-120"/>
              </a:rPr>
              <a:t>Registra cuando un usuario da like a otro. No se puede dar dos veces al mismo perfil.</a:t>
            </a:r>
            <a:endParaRPr lang="en-US" sz="1100" dirty="0"/>
          </a:p>
        </p:txBody>
      </p:sp>
      <p:sp>
        <p:nvSpPr>
          <p:cNvPr id="33" name="Shape 30"/>
          <p:cNvSpPr/>
          <p:nvPr/>
        </p:nvSpPr>
        <p:spPr>
          <a:xfrm>
            <a:off x="3401568" y="4544568"/>
            <a:ext cx="109728" cy="109728"/>
          </a:xfrm>
          <a:prstGeom prst="rect">
            <a:avLst/>
          </a:prstGeom>
          <a:solidFill>
            <a:srgbClr val="B03A2E"/>
          </a:solidFill>
          <a:ln w="12700">
            <a:solidFill>
              <a:srgbClr val="B03A2E"/>
            </a:solidFill>
            <a:prstDash val="solid"/>
          </a:ln>
        </p:spPr>
        <p:txBody>
          <a:bodyPr/>
          <a:lstStyle/>
          <a:p>
            <a:endParaRPr lang="es-ES"/>
          </a:p>
        </p:txBody>
      </p:sp>
      <p:sp>
        <p:nvSpPr>
          <p:cNvPr id="34" name="Text 31"/>
          <p:cNvSpPr/>
          <p:nvPr/>
        </p:nvSpPr>
        <p:spPr>
          <a:xfrm>
            <a:off x="3584448" y="4498848"/>
            <a:ext cx="1371600" cy="219456"/>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Matches:</a:t>
            </a:r>
            <a:endParaRPr lang="en-US" sz="1200" dirty="0"/>
          </a:p>
        </p:txBody>
      </p:sp>
      <p:sp>
        <p:nvSpPr>
          <p:cNvPr id="35" name="Text 32"/>
          <p:cNvSpPr/>
          <p:nvPr/>
        </p:nvSpPr>
        <p:spPr>
          <a:xfrm>
            <a:off x="3584448" y="4736592"/>
            <a:ext cx="5212080" cy="274320"/>
          </a:xfrm>
          <a:prstGeom prst="rect">
            <a:avLst/>
          </a:prstGeom>
          <a:noFill/>
          <a:ln/>
        </p:spPr>
        <p:txBody>
          <a:bodyPr wrap="square" lIns="0" tIns="0" rIns="0" bIns="0" rtlCol="0" anchor="ctr"/>
          <a:lstStyle/>
          <a:p>
            <a:pPr marL="0" indent="0">
              <a:lnSpc>
                <a:spcPct val="120000"/>
              </a:lnSpc>
              <a:buNone/>
            </a:pPr>
            <a:r>
              <a:rPr lang="en-US" sz="1100" dirty="0">
                <a:solidFill>
                  <a:srgbClr val="5D6D7E"/>
                </a:solidFill>
                <a:latin typeface="Calibri" pitchFamily="34" charset="0"/>
                <a:ea typeface="Calibri" pitchFamily="34" charset="-122"/>
                <a:cs typeface="Calibri" pitchFamily="34" charset="-120"/>
              </a:rPr>
              <a:t>Se rellena automaticamente cuando dos usuarios se han dado like mutuamente.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C2B4A"/>
          </a:solidFill>
          <a:ln w="12700">
            <a:solidFill>
              <a:srgbClr val="1C2B4A"/>
            </a:solidFill>
            <a:prstDash val="solid"/>
          </a:ln>
        </p:spPr>
        <p:txBody>
          <a:bodyPr/>
          <a:lstStyle/>
          <a:p>
            <a:endParaRPr lang="es-ES"/>
          </a:p>
        </p:txBody>
      </p:sp>
      <p:sp>
        <p:nvSpPr>
          <p:cNvPr id="3" name="Text 1"/>
          <p:cNvSpPr/>
          <p:nvPr/>
        </p:nvSpPr>
        <p:spPr>
          <a:xfrm>
            <a:off x="347472" y="36576"/>
            <a:ext cx="8595360" cy="201168"/>
          </a:xfrm>
          <a:prstGeom prst="rect">
            <a:avLst/>
          </a:prstGeom>
          <a:noFill/>
          <a:ln/>
        </p:spPr>
        <p:txBody>
          <a:bodyPr wrap="square" lIns="0" tIns="0" rIns="0" bIns="0" rtlCol="0" anchor="ctr"/>
          <a:lstStyle/>
          <a:p>
            <a:pPr marL="0" indent="0">
              <a:buNone/>
            </a:pPr>
            <a:r>
              <a:rPr lang="en-US" sz="900" b="1" kern="0" spc="300" dirty="0">
                <a:solidFill>
                  <a:srgbClr val="B03A2E"/>
                </a:solidFill>
                <a:latin typeface="Calibri" pitchFamily="34" charset="0"/>
                <a:ea typeface="Calibri" pitchFamily="34" charset="-122"/>
                <a:cs typeface="Calibri" pitchFamily="34" charset="-120"/>
              </a:rPr>
              <a:t>BASES DE DATOS</a:t>
            </a:r>
            <a:endParaRPr lang="en-US" sz="900" dirty="0"/>
          </a:p>
        </p:txBody>
      </p:sp>
      <p:sp>
        <p:nvSpPr>
          <p:cNvPr id="4" name="Text 2"/>
          <p:cNvSpPr/>
          <p:nvPr/>
        </p:nvSpPr>
        <p:spPr>
          <a:xfrm>
            <a:off x="347472" y="164592"/>
            <a:ext cx="8595360" cy="566928"/>
          </a:xfrm>
          <a:prstGeom prst="rect">
            <a:avLst/>
          </a:prstGeom>
          <a:noFill/>
          <a:ln/>
        </p:spPr>
        <p:txBody>
          <a:bodyPr wrap="square" lIns="0" tIns="0" rIns="0" bIns="0" rtlCol="0" anchor="ctr"/>
          <a:lstStyle/>
          <a:p>
            <a:pPr marL="0" indent="0" algn="l">
              <a:buNone/>
            </a:pPr>
            <a:r>
              <a:rPr lang="en-US" sz="2700" b="1" dirty="0">
                <a:solidFill>
                  <a:srgbClr val="1C2B4A"/>
                </a:solidFill>
                <a:latin typeface="Calibri" pitchFamily="34" charset="0"/>
                <a:ea typeface="Calibri" pitchFamily="34" charset="-122"/>
                <a:cs typeface="Calibri" pitchFamily="34" charset="-120"/>
              </a:rPr>
              <a:t>Automatizacion dentro de la base de datos</a:t>
            </a:r>
            <a:endParaRPr lang="en-US" sz="2700" dirty="0"/>
          </a:p>
        </p:txBody>
      </p:sp>
      <p:sp>
        <p:nvSpPr>
          <p:cNvPr id="5" name="Shape 3"/>
          <p:cNvSpPr/>
          <p:nvPr/>
        </p:nvSpPr>
        <p:spPr>
          <a:xfrm>
            <a:off x="347472" y="768096"/>
            <a:ext cx="8449056" cy="0"/>
          </a:xfrm>
          <a:prstGeom prst="line">
            <a:avLst/>
          </a:prstGeom>
          <a:noFill/>
          <a:ln w="8890">
            <a:solidFill>
              <a:srgbClr val="AEB6BF"/>
            </a:solidFill>
            <a:prstDash val="solid"/>
          </a:ln>
        </p:spPr>
        <p:txBody>
          <a:bodyPr/>
          <a:lstStyle/>
          <a:p>
            <a:endParaRPr lang="es-ES"/>
          </a:p>
        </p:txBody>
      </p:sp>
      <p:sp>
        <p:nvSpPr>
          <p:cNvPr id="6" name="Text 4"/>
          <p:cNvSpPr/>
          <p:nvPr/>
        </p:nvSpPr>
        <p:spPr>
          <a:xfrm>
            <a:off x="347472" y="932688"/>
            <a:ext cx="4297680" cy="274320"/>
          </a:xfrm>
          <a:prstGeom prst="rect">
            <a:avLst/>
          </a:prstGeom>
          <a:noFill/>
          <a:ln/>
        </p:spPr>
        <p:txBody>
          <a:bodyPr wrap="square" lIns="0" tIns="0" rIns="0" bIns="0" rtlCol="0" anchor="ctr"/>
          <a:lstStyle/>
          <a:p>
            <a:pPr marL="0" indent="0">
              <a:buNone/>
            </a:pPr>
            <a:r>
              <a:rPr lang="en-US" sz="1300" b="1" dirty="0">
                <a:solidFill>
                  <a:srgbClr val="B03A2E"/>
                </a:solidFill>
                <a:latin typeface="Calibri" pitchFamily="34" charset="0"/>
                <a:ea typeface="Calibri" pitchFamily="34" charset="-122"/>
                <a:cs typeface="Calibri" pitchFamily="34" charset="-120"/>
              </a:rPr>
              <a:t>El trigger: el match que nadie tiene que crear manualmente</a:t>
            </a:r>
            <a:endParaRPr lang="en-US" sz="1300" dirty="0"/>
          </a:p>
        </p:txBody>
      </p:sp>
      <p:sp>
        <p:nvSpPr>
          <p:cNvPr id="7" name="Text 5"/>
          <p:cNvSpPr/>
          <p:nvPr/>
        </p:nvSpPr>
        <p:spPr>
          <a:xfrm>
            <a:off x="347472" y="1243584"/>
            <a:ext cx="4297680" cy="1389888"/>
          </a:xfrm>
          <a:prstGeom prst="rect">
            <a:avLst/>
          </a:prstGeom>
          <a:noFill/>
          <a:ln/>
        </p:spPr>
        <p:txBody>
          <a:bodyPr wrap="square" lIns="0" tIns="0" rIns="0" bIns="0" rtlCol="0" anchor="t"/>
          <a:lstStyle/>
          <a:p>
            <a:pPr marL="0" indent="0" algn="l">
              <a:lnSpc>
                <a:spcPct val="132000"/>
              </a:lnSpc>
              <a:buNone/>
            </a:pPr>
            <a:r>
              <a:rPr lang="en-US" sz="1300" dirty="0">
                <a:solidFill>
                  <a:srgbClr val="2C3E50"/>
                </a:solidFill>
                <a:latin typeface="Calibri" pitchFamily="34" charset="0"/>
                <a:ea typeface="Calibri" pitchFamily="34" charset="-122"/>
                <a:cs typeface="Calibri" pitchFamily="34" charset="-120"/>
              </a:rPr>
              <a:t>Un trigger es una instruccion que la base de datos ejecuta sola cuando ocurre algo concreto. En este caso, cada vez que alguien da un like, la base de datos comprueba automaticamente si la otra persona ya habia dado like antes. Si es asi, crea el match sin que el servidor tenga que hacer nada extra.</a:t>
            </a:r>
            <a:endParaRPr lang="en-US" sz="1300" dirty="0"/>
          </a:p>
        </p:txBody>
      </p:sp>
      <p:sp>
        <p:nvSpPr>
          <p:cNvPr id="8" name="Shape 6"/>
          <p:cNvSpPr/>
          <p:nvPr/>
        </p:nvSpPr>
        <p:spPr>
          <a:xfrm>
            <a:off x="347472" y="2779776"/>
            <a:ext cx="256032" cy="256032"/>
          </a:xfrm>
          <a:prstGeom prst="ellipse">
            <a:avLst/>
          </a:prstGeom>
          <a:solidFill>
            <a:srgbClr val="1C2B4A"/>
          </a:solidFill>
          <a:ln w="12700">
            <a:solidFill>
              <a:srgbClr val="1C2B4A"/>
            </a:solidFill>
            <a:prstDash val="solid"/>
          </a:ln>
        </p:spPr>
        <p:txBody>
          <a:bodyPr/>
          <a:lstStyle/>
          <a:p>
            <a:endParaRPr lang="es-ES"/>
          </a:p>
        </p:txBody>
      </p:sp>
      <p:sp>
        <p:nvSpPr>
          <p:cNvPr id="9" name="Text 7"/>
          <p:cNvSpPr/>
          <p:nvPr/>
        </p:nvSpPr>
        <p:spPr>
          <a:xfrm>
            <a:off x="347472" y="2779776"/>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676656" y="2814242"/>
            <a:ext cx="2103120" cy="237744"/>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Se da un like</a:t>
            </a:r>
            <a:endParaRPr lang="en-US" sz="1200" dirty="0"/>
          </a:p>
        </p:txBody>
      </p:sp>
      <p:sp>
        <p:nvSpPr>
          <p:cNvPr id="11" name="Text 9"/>
          <p:cNvSpPr/>
          <p:nvPr/>
        </p:nvSpPr>
        <p:spPr>
          <a:xfrm>
            <a:off x="676656" y="2962656"/>
            <a:ext cx="3840480" cy="347472"/>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La base de datos recibe el nuevo like</a:t>
            </a:r>
            <a:endParaRPr lang="en-US" sz="1100" dirty="0"/>
          </a:p>
        </p:txBody>
      </p:sp>
      <p:sp>
        <p:nvSpPr>
          <p:cNvPr id="12" name="Shape 10"/>
          <p:cNvSpPr/>
          <p:nvPr/>
        </p:nvSpPr>
        <p:spPr>
          <a:xfrm>
            <a:off x="475488" y="3035808"/>
            <a:ext cx="0" cy="384048"/>
          </a:xfrm>
          <a:prstGeom prst="line">
            <a:avLst/>
          </a:prstGeom>
          <a:noFill/>
          <a:ln w="12700">
            <a:solidFill>
              <a:srgbClr val="AEB6BF"/>
            </a:solidFill>
            <a:prstDash val="solid"/>
          </a:ln>
        </p:spPr>
        <p:txBody>
          <a:bodyPr/>
          <a:lstStyle/>
          <a:p>
            <a:endParaRPr lang="es-ES"/>
          </a:p>
        </p:txBody>
      </p:sp>
      <p:sp>
        <p:nvSpPr>
          <p:cNvPr id="13" name="Shape 11"/>
          <p:cNvSpPr/>
          <p:nvPr/>
        </p:nvSpPr>
        <p:spPr>
          <a:xfrm>
            <a:off x="347472" y="3493008"/>
            <a:ext cx="256032" cy="256032"/>
          </a:xfrm>
          <a:prstGeom prst="ellipse">
            <a:avLst/>
          </a:prstGeom>
          <a:solidFill>
            <a:srgbClr val="1C2B4A"/>
          </a:solidFill>
          <a:ln w="12700">
            <a:solidFill>
              <a:srgbClr val="1C2B4A"/>
            </a:solidFill>
            <a:prstDash val="solid"/>
          </a:ln>
        </p:spPr>
        <p:txBody>
          <a:bodyPr/>
          <a:lstStyle/>
          <a:p>
            <a:endParaRPr lang="es-ES"/>
          </a:p>
        </p:txBody>
      </p:sp>
      <p:sp>
        <p:nvSpPr>
          <p:cNvPr id="14" name="Text 12"/>
          <p:cNvSpPr/>
          <p:nvPr/>
        </p:nvSpPr>
        <p:spPr>
          <a:xfrm>
            <a:off x="347472" y="3493008"/>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676656" y="3419856"/>
            <a:ext cx="2103120" cy="237744"/>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Se comprueba</a:t>
            </a:r>
            <a:endParaRPr lang="en-US" sz="1200" dirty="0"/>
          </a:p>
        </p:txBody>
      </p:sp>
      <p:sp>
        <p:nvSpPr>
          <p:cNvPr id="16" name="Text 14"/>
          <p:cNvSpPr/>
          <p:nvPr/>
        </p:nvSpPr>
        <p:spPr>
          <a:xfrm>
            <a:off x="676656" y="3675888"/>
            <a:ext cx="3840480" cy="347472"/>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Habia like de vuelta de esa persona?</a:t>
            </a:r>
            <a:endParaRPr lang="en-US" sz="1100" dirty="0"/>
          </a:p>
        </p:txBody>
      </p:sp>
      <p:sp>
        <p:nvSpPr>
          <p:cNvPr id="17" name="Shape 15"/>
          <p:cNvSpPr/>
          <p:nvPr/>
        </p:nvSpPr>
        <p:spPr>
          <a:xfrm>
            <a:off x="475488" y="3749040"/>
            <a:ext cx="0" cy="384048"/>
          </a:xfrm>
          <a:prstGeom prst="line">
            <a:avLst/>
          </a:prstGeom>
          <a:noFill/>
          <a:ln w="12700">
            <a:solidFill>
              <a:srgbClr val="AEB6BF"/>
            </a:solidFill>
            <a:prstDash val="solid"/>
          </a:ln>
        </p:spPr>
        <p:txBody>
          <a:bodyPr/>
          <a:lstStyle/>
          <a:p>
            <a:endParaRPr lang="es-ES"/>
          </a:p>
        </p:txBody>
      </p:sp>
      <p:sp>
        <p:nvSpPr>
          <p:cNvPr id="18" name="Shape 16"/>
          <p:cNvSpPr/>
          <p:nvPr/>
        </p:nvSpPr>
        <p:spPr>
          <a:xfrm>
            <a:off x="347472" y="4206240"/>
            <a:ext cx="256032" cy="256032"/>
          </a:xfrm>
          <a:prstGeom prst="ellipse">
            <a:avLst/>
          </a:prstGeom>
          <a:solidFill>
            <a:srgbClr val="B03A2E"/>
          </a:solidFill>
          <a:ln w="12700">
            <a:solidFill>
              <a:srgbClr val="B03A2E"/>
            </a:solidFill>
            <a:prstDash val="solid"/>
          </a:ln>
        </p:spPr>
        <p:txBody>
          <a:bodyPr/>
          <a:lstStyle/>
          <a:p>
            <a:endParaRPr lang="es-ES"/>
          </a:p>
        </p:txBody>
      </p:sp>
      <p:sp>
        <p:nvSpPr>
          <p:cNvPr id="19" name="Text 17"/>
          <p:cNvSpPr/>
          <p:nvPr/>
        </p:nvSpPr>
        <p:spPr>
          <a:xfrm>
            <a:off x="347472" y="420624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676656" y="4133088"/>
            <a:ext cx="2103120" cy="237744"/>
          </a:xfrm>
          <a:prstGeom prst="rect">
            <a:avLst/>
          </a:prstGeom>
          <a:noFill/>
          <a:ln/>
        </p:spPr>
        <p:txBody>
          <a:bodyPr wrap="square" lIns="0" tIns="0" rIns="0" bIns="0" rtlCol="0" anchor="ctr"/>
          <a:lstStyle/>
          <a:p>
            <a:pPr marL="0" indent="0">
              <a:buNone/>
            </a:pPr>
            <a:r>
              <a:rPr lang="en-US" sz="1200" b="1" dirty="0">
                <a:solidFill>
                  <a:srgbClr val="B03A2E"/>
                </a:solidFill>
                <a:latin typeface="Calibri" pitchFamily="34" charset="0"/>
                <a:ea typeface="Calibri" pitchFamily="34" charset="-122"/>
                <a:cs typeface="Calibri" pitchFamily="34" charset="-120"/>
              </a:rPr>
              <a:t>Si lo habia: match</a:t>
            </a:r>
            <a:endParaRPr lang="en-US" sz="1200" dirty="0"/>
          </a:p>
        </p:txBody>
      </p:sp>
      <p:sp>
        <p:nvSpPr>
          <p:cNvPr id="21" name="Text 19"/>
          <p:cNvSpPr/>
          <p:nvPr/>
        </p:nvSpPr>
        <p:spPr>
          <a:xfrm>
            <a:off x="676656" y="4389120"/>
            <a:ext cx="3840480" cy="347472"/>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Se crea el match automaticamente</a:t>
            </a:r>
            <a:endParaRPr lang="en-US" sz="1100" dirty="0"/>
          </a:p>
        </p:txBody>
      </p:sp>
      <p:sp>
        <p:nvSpPr>
          <p:cNvPr id="23" name="Text 20"/>
          <p:cNvSpPr/>
          <p:nvPr/>
        </p:nvSpPr>
        <p:spPr>
          <a:xfrm>
            <a:off x="4919472" y="932688"/>
            <a:ext cx="3877056" cy="274320"/>
          </a:xfrm>
          <a:prstGeom prst="rect">
            <a:avLst/>
          </a:prstGeom>
          <a:noFill/>
          <a:ln/>
        </p:spPr>
        <p:txBody>
          <a:bodyPr wrap="square" lIns="0" tIns="0" rIns="0" bIns="0" rtlCol="0" anchor="ctr"/>
          <a:lstStyle/>
          <a:p>
            <a:pPr marL="0" indent="0">
              <a:buNone/>
            </a:pPr>
            <a:r>
              <a:rPr lang="en-US" sz="1300" b="1" dirty="0">
                <a:solidFill>
                  <a:srgbClr val="1C2B4A"/>
                </a:solidFill>
                <a:latin typeface="Calibri" pitchFamily="34" charset="0"/>
                <a:ea typeface="Calibri" pitchFamily="34" charset="-122"/>
                <a:cs typeface="Calibri" pitchFamily="34" charset="-120"/>
              </a:rPr>
              <a:t>Los procedimientos almacenados</a:t>
            </a:r>
            <a:endParaRPr lang="en-US" sz="1300" dirty="0"/>
          </a:p>
        </p:txBody>
      </p:sp>
      <p:sp>
        <p:nvSpPr>
          <p:cNvPr id="24" name="Text 21"/>
          <p:cNvSpPr/>
          <p:nvPr/>
        </p:nvSpPr>
        <p:spPr>
          <a:xfrm>
            <a:off x="4919472" y="1243584"/>
            <a:ext cx="3877056" cy="1078992"/>
          </a:xfrm>
          <a:prstGeom prst="rect">
            <a:avLst/>
          </a:prstGeom>
          <a:noFill/>
          <a:ln/>
        </p:spPr>
        <p:txBody>
          <a:bodyPr wrap="square" lIns="0" tIns="0" rIns="0" bIns="0" rtlCol="0" anchor="t"/>
          <a:lstStyle/>
          <a:p>
            <a:pPr marL="0" indent="0" algn="l">
              <a:lnSpc>
                <a:spcPct val="132000"/>
              </a:lnSpc>
              <a:buNone/>
            </a:pPr>
            <a:r>
              <a:rPr lang="en-US" sz="1300" dirty="0">
                <a:solidFill>
                  <a:srgbClr val="2C3E50"/>
                </a:solidFill>
                <a:latin typeface="Calibri" pitchFamily="34" charset="0"/>
                <a:ea typeface="Calibri" pitchFamily="34" charset="-122"/>
                <a:cs typeface="Calibri" pitchFamily="34" charset="-120"/>
              </a:rPr>
              <a:t>Un procedimiento almacenado es una serie de pasos guardada dentro de la base de datos con un nombre. En lugar de escribir las mismas consultas una y otra vez, se llama al procedimiento y el hace el trabajo. Se han creado tres:</a:t>
            </a:r>
            <a:endParaRPr lang="en-US" sz="1300" dirty="0"/>
          </a:p>
        </p:txBody>
      </p:sp>
      <p:sp>
        <p:nvSpPr>
          <p:cNvPr id="25" name="Shape 22"/>
          <p:cNvSpPr/>
          <p:nvPr/>
        </p:nvSpPr>
        <p:spPr>
          <a:xfrm>
            <a:off x="4992624" y="2560320"/>
            <a:ext cx="3877056" cy="731520"/>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26" name="Shape 23"/>
          <p:cNvSpPr/>
          <p:nvPr/>
        </p:nvSpPr>
        <p:spPr>
          <a:xfrm>
            <a:off x="4946904" y="2575794"/>
            <a:ext cx="73152" cy="731520"/>
          </a:xfrm>
          <a:prstGeom prst="rect">
            <a:avLst/>
          </a:prstGeom>
          <a:solidFill>
            <a:srgbClr val="B03A2E"/>
          </a:solidFill>
          <a:ln w="12700">
            <a:solidFill>
              <a:srgbClr val="B03A2E"/>
            </a:solidFill>
            <a:prstDash val="solid"/>
          </a:ln>
        </p:spPr>
        <p:txBody>
          <a:bodyPr/>
          <a:lstStyle/>
          <a:p>
            <a:endParaRPr lang="es-ES"/>
          </a:p>
        </p:txBody>
      </p:sp>
      <p:sp>
        <p:nvSpPr>
          <p:cNvPr id="27" name="Text 24"/>
          <p:cNvSpPr/>
          <p:nvPr/>
        </p:nvSpPr>
        <p:spPr>
          <a:xfrm>
            <a:off x="5029200" y="2532888"/>
            <a:ext cx="3657600"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ContarMatches</a:t>
            </a:r>
            <a:endParaRPr lang="en-US" sz="1200" dirty="0"/>
          </a:p>
        </p:txBody>
      </p:sp>
      <p:sp>
        <p:nvSpPr>
          <p:cNvPr id="28" name="Text 25"/>
          <p:cNvSpPr/>
          <p:nvPr/>
        </p:nvSpPr>
        <p:spPr>
          <a:xfrm>
            <a:off x="5047488" y="2743200"/>
            <a:ext cx="3657600" cy="347472"/>
          </a:xfrm>
          <a:prstGeom prst="rect">
            <a:avLst/>
          </a:prstGeom>
          <a:noFill/>
          <a:ln/>
        </p:spPr>
        <p:txBody>
          <a:bodyPr wrap="square" lIns="0" tIns="0" rIns="0" bIns="0" rtlCol="0" anchor="ctr"/>
          <a:lstStyle/>
          <a:p>
            <a:pPr marL="0" indent="0">
              <a:lnSpc>
                <a:spcPct val="120000"/>
              </a:lnSpc>
              <a:buNone/>
            </a:pPr>
            <a:r>
              <a:rPr lang="en-US" sz="1100" dirty="0">
                <a:solidFill>
                  <a:srgbClr val="5D6D7E"/>
                </a:solidFill>
                <a:latin typeface="Calibri" pitchFamily="34" charset="0"/>
                <a:ea typeface="Calibri" pitchFamily="34" charset="-122"/>
                <a:cs typeface="Calibri" pitchFamily="34" charset="-120"/>
              </a:rPr>
              <a:t>Dado el identificador de un usuario, devuelve cuantos matches tiene en total.</a:t>
            </a:r>
            <a:endParaRPr lang="en-US" sz="1100" dirty="0"/>
          </a:p>
        </p:txBody>
      </p:sp>
      <p:sp>
        <p:nvSpPr>
          <p:cNvPr id="29" name="Shape 26"/>
          <p:cNvSpPr/>
          <p:nvPr/>
        </p:nvSpPr>
        <p:spPr>
          <a:xfrm>
            <a:off x="4919472" y="3334746"/>
            <a:ext cx="3877056" cy="731520"/>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30" name="Shape 27"/>
          <p:cNvSpPr/>
          <p:nvPr/>
        </p:nvSpPr>
        <p:spPr>
          <a:xfrm>
            <a:off x="4926103" y="3343890"/>
            <a:ext cx="73152" cy="731520"/>
          </a:xfrm>
          <a:prstGeom prst="rect">
            <a:avLst/>
          </a:prstGeom>
          <a:solidFill>
            <a:srgbClr val="B03A2E"/>
          </a:solidFill>
          <a:ln w="12700">
            <a:solidFill>
              <a:srgbClr val="B03A2E"/>
            </a:solidFill>
            <a:prstDash val="solid"/>
          </a:ln>
        </p:spPr>
        <p:txBody>
          <a:bodyPr/>
          <a:lstStyle/>
          <a:p>
            <a:endParaRPr lang="es-ES"/>
          </a:p>
        </p:txBody>
      </p:sp>
      <p:sp>
        <p:nvSpPr>
          <p:cNvPr id="31" name="Text 28"/>
          <p:cNvSpPr/>
          <p:nvPr/>
        </p:nvSpPr>
        <p:spPr>
          <a:xfrm>
            <a:off x="5047488" y="3291840"/>
            <a:ext cx="3657600"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CargarUsuario</a:t>
            </a:r>
            <a:endParaRPr lang="en-US" sz="1200" dirty="0"/>
          </a:p>
        </p:txBody>
      </p:sp>
      <p:sp>
        <p:nvSpPr>
          <p:cNvPr id="32" name="Text 29"/>
          <p:cNvSpPr/>
          <p:nvPr/>
        </p:nvSpPr>
        <p:spPr>
          <a:xfrm>
            <a:off x="5047488" y="3584448"/>
            <a:ext cx="3657600" cy="347472"/>
          </a:xfrm>
          <a:prstGeom prst="rect">
            <a:avLst/>
          </a:prstGeom>
          <a:noFill/>
          <a:ln/>
        </p:spPr>
        <p:txBody>
          <a:bodyPr wrap="square" lIns="0" tIns="0" rIns="0" bIns="0" rtlCol="0" anchor="ctr"/>
          <a:lstStyle/>
          <a:p>
            <a:pPr marL="0" indent="0">
              <a:lnSpc>
                <a:spcPct val="120000"/>
              </a:lnSpc>
              <a:buNone/>
            </a:pPr>
            <a:r>
              <a:rPr lang="en-US" sz="1100" dirty="0">
                <a:solidFill>
                  <a:srgbClr val="5D6D7E"/>
                </a:solidFill>
                <a:latin typeface="Calibri" pitchFamily="34" charset="0"/>
                <a:ea typeface="Calibri" pitchFamily="34" charset="-122"/>
                <a:cs typeface="Calibri" pitchFamily="34" charset="-120"/>
              </a:rPr>
              <a:t>Dado el identificador de un usuario, devuelve todos sus datos: nombre, descripcion y tecnologias en una sola respuesta.</a:t>
            </a:r>
            <a:endParaRPr lang="en-US" sz="1100" dirty="0"/>
          </a:p>
        </p:txBody>
      </p:sp>
      <p:sp>
        <p:nvSpPr>
          <p:cNvPr id="33" name="Shape 30"/>
          <p:cNvSpPr/>
          <p:nvPr/>
        </p:nvSpPr>
        <p:spPr>
          <a:xfrm>
            <a:off x="4919472" y="4224528"/>
            <a:ext cx="3877056" cy="731520"/>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34" name="Shape 31"/>
          <p:cNvSpPr/>
          <p:nvPr/>
        </p:nvSpPr>
        <p:spPr>
          <a:xfrm>
            <a:off x="4926103" y="4252663"/>
            <a:ext cx="73152" cy="731520"/>
          </a:xfrm>
          <a:prstGeom prst="rect">
            <a:avLst/>
          </a:prstGeom>
          <a:solidFill>
            <a:srgbClr val="B03A2E"/>
          </a:solidFill>
          <a:ln w="12700">
            <a:solidFill>
              <a:srgbClr val="B03A2E"/>
            </a:solidFill>
            <a:prstDash val="solid"/>
          </a:ln>
        </p:spPr>
        <p:txBody>
          <a:bodyPr/>
          <a:lstStyle/>
          <a:p>
            <a:endParaRPr lang="es-ES"/>
          </a:p>
        </p:txBody>
      </p:sp>
      <p:sp>
        <p:nvSpPr>
          <p:cNvPr id="35" name="Text 32"/>
          <p:cNvSpPr/>
          <p:nvPr/>
        </p:nvSpPr>
        <p:spPr>
          <a:xfrm>
            <a:off x="5047488" y="4215384"/>
            <a:ext cx="3657600"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BorrarUsuario</a:t>
            </a:r>
            <a:endParaRPr lang="en-US" sz="1200" dirty="0"/>
          </a:p>
        </p:txBody>
      </p:sp>
      <p:sp>
        <p:nvSpPr>
          <p:cNvPr id="36" name="Text 33"/>
          <p:cNvSpPr/>
          <p:nvPr/>
        </p:nvSpPr>
        <p:spPr>
          <a:xfrm>
            <a:off x="5047488" y="4425696"/>
            <a:ext cx="3657600" cy="347472"/>
          </a:xfrm>
          <a:prstGeom prst="rect">
            <a:avLst/>
          </a:prstGeom>
          <a:noFill/>
          <a:ln/>
        </p:spPr>
        <p:txBody>
          <a:bodyPr wrap="square" lIns="0" tIns="0" rIns="0" bIns="0" rtlCol="0" anchor="ctr"/>
          <a:lstStyle/>
          <a:p>
            <a:pPr marL="0" indent="0">
              <a:lnSpc>
                <a:spcPct val="120000"/>
              </a:lnSpc>
              <a:buNone/>
            </a:pPr>
            <a:r>
              <a:rPr lang="en-US" sz="1100" dirty="0">
                <a:solidFill>
                  <a:srgbClr val="5D6D7E"/>
                </a:solidFill>
                <a:latin typeface="Calibri" pitchFamily="34" charset="0"/>
                <a:ea typeface="Calibri" pitchFamily="34" charset="-122"/>
                <a:cs typeface="Calibri" pitchFamily="34" charset="-120"/>
              </a:rPr>
              <a:t>Elimina un usuario. Al borrarlo, desaparecen automaticamente todos sus likes, matches y tecnologias vinculadas.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C2B4A"/>
          </a:solidFill>
          <a:ln w="12700">
            <a:solidFill>
              <a:srgbClr val="1C2B4A"/>
            </a:solidFill>
            <a:prstDash val="solid"/>
          </a:ln>
        </p:spPr>
        <p:txBody>
          <a:bodyPr/>
          <a:lstStyle/>
          <a:p>
            <a:endParaRPr lang="es-ES"/>
          </a:p>
        </p:txBody>
      </p:sp>
      <p:sp>
        <p:nvSpPr>
          <p:cNvPr id="3" name="Text 1"/>
          <p:cNvSpPr/>
          <p:nvPr/>
        </p:nvSpPr>
        <p:spPr>
          <a:xfrm>
            <a:off x="347472" y="36576"/>
            <a:ext cx="8595360" cy="201168"/>
          </a:xfrm>
          <a:prstGeom prst="rect">
            <a:avLst/>
          </a:prstGeom>
          <a:noFill/>
          <a:ln/>
        </p:spPr>
        <p:txBody>
          <a:bodyPr wrap="square" lIns="0" tIns="0" rIns="0" bIns="0" rtlCol="0" anchor="ctr"/>
          <a:lstStyle/>
          <a:p>
            <a:pPr marL="0" indent="0">
              <a:buNone/>
            </a:pPr>
            <a:r>
              <a:rPr lang="en-US" sz="900" b="1" kern="0" spc="300" dirty="0">
                <a:solidFill>
                  <a:srgbClr val="B03A2E"/>
                </a:solidFill>
                <a:latin typeface="Calibri" pitchFamily="34" charset="0"/>
                <a:ea typeface="Calibri" pitchFamily="34" charset="-122"/>
                <a:cs typeface="Calibri" pitchFamily="34" charset="-120"/>
              </a:rPr>
              <a:t>PROGRAMACION</a:t>
            </a:r>
            <a:endParaRPr lang="en-US" sz="900" dirty="0"/>
          </a:p>
        </p:txBody>
      </p:sp>
      <p:sp>
        <p:nvSpPr>
          <p:cNvPr id="4" name="Text 2"/>
          <p:cNvSpPr/>
          <p:nvPr/>
        </p:nvSpPr>
        <p:spPr>
          <a:xfrm>
            <a:off x="347472" y="164592"/>
            <a:ext cx="8595360" cy="566928"/>
          </a:xfrm>
          <a:prstGeom prst="rect">
            <a:avLst/>
          </a:prstGeom>
          <a:noFill/>
          <a:ln/>
        </p:spPr>
        <p:txBody>
          <a:bodyPr wrap="square" lIns="0" tIns="0" rIns="0" bIns="0" rtlCol="0" anchor="ctr"/>
          <a:lstStyle/>
          <a:p>
            <a:pPr marL="0" indent="0" algn="l">
              <a:buNone/>
            </a:pPr>
            <a:r>
              <a:rPr lang="en-US" sz="2700" b="1" dirty="0">
                <a:solidFill>
                  <a:srgbClr val="1C2B4A"/>
                </a:solidFill>
                <a:latin typeface="Calibri" pitchFamily="34" charset="0"/>
                <a:ea typeface="Calibri" pitchFamily="34" charset="-122"/>
                <a:cs typeface="Calibri" pitchFamily="34" charset="-120"/>
              </a:rPr>
              <a:t>El servidor: lo que ocurre detras de la pantalla</a:t>
            </a:r>
            <a:endParaRPr lang="en-US" sz="2700" dirty="0"/>
          </a:p>
        </p:txBody>
      </p:sp>
      <p:sp>
        <p:nvSpPr>
          <p:cNvPr id="5" name="Shape 3"/>
          <p:cNvSpPr/>
          <p:nvPr/>
        </p:nvSpPr>
        <p:spPr>
          <a:xfrm>
            <a:off x="347472" y="768096"/>
            <a:ext cx="8449056" cy="0"/>
          </a:xfrm>
          <a:prstGeom prst="line">
            <a:avLst/>
          </a:prstGeom>
          <a:noFill/>
          <a:ln w="8890">
            <a:solidFill>
              <a:srgbClr val="AEB6BF"/>
            </a:solidFill>
            <a:prstDash val="solid"/>
          </a:ln>
        </p:spPr>
        <p:txBody>
          <a:bodyPr/>
          <a:lstStyle/>
          <a:p>
            <a:endParaRPr lang="es-ES"/>
          </a:p>
        </p:txBody>
      </p:sp>
      <p:sp>
        <p:nvSpPr>
          <p:cNvPr id="6" name="Text 4"/>
          <p:cNvSpPr/>
          <p:nvPr/>
        </p:nvSpPr>
        <p:spPr>
          <a:xfrm>
            <a:off x="347472" y="932688"/>
            <a:ext cx="4206240" cy="274320"/>
          </a:xfrm>
          <a:prstGeom prst="rect">
            <a:avLst/>
          </a:prstGeom>
          <a:noFill/>
          <a:ln/>
        </p:spPr>
        <p:txBody>
          <a:bodyPr wrap="square" lIns="0" tIns="0" rIns="0" bIns="0" rtlCol="0" anchor="ctr"/>
          <a:lstStyle/>
          <a:p>
            <a:pPr marL="0" indent="0">
              <a:buNone/>
            </a:pPr>
            <a:r>
              <a:rPr lang="en-US" sz="1300" b="1" dirty="0">
                <a:solidFill>
                  <a:srgbClr val="B03A2E"/>
                </a:solidFill>
                <a:latin typeface="Calibri" pitchFamily="34" charset="0"/>
                <a:ea typeface="Calibri" pitchFamily="34" charset="-122"/>
                <a:cs typeface="Calibri" pitchFamily="34" charset="-120"/>
              </a:rPr>
              <a:t>Por que Java y Spring Boot</a:t>
            </a:r>
            <a:endParaRPr lang="en-US" sz="1300" dirty="0"/>
          </a:p>
        </p:txBody>
      </p:sp>
      <p:sp>
        <p:nvSpPr>
          <p:cNvPr id="7" name="Text 5"/>
          <p:cNvSpPr/>
          <p:nvPr/>
        </p:nvSpPr>
        <p:spPr>
          <a:xfrm>
            <a:off x="347472" y="1243584"/>
            <a:ext cx="4206240" cy="1371600"/>
          </a:xfrm>
          <a:prstGeom prst="rect">
            <a:avLst/>
          </a:prstGeom>
          <a:noFill/>
          <a:ln/>
        </p:spPr>
        <p:txBody>
          <a:bodyPr wrap="square" lIns="0" tIns="0" rIns="0" bIns="0" rtlCol="0" anchor="t"/>
          <a:lstStyle/>
          <a:p>
            <a:pPr marL="0" indent="0" algn="l">
              <a:lnSpc>
                <a:spcPct val="132000"/>
              </a:lnSpc>
              <a:buNone/>
            </a:pPr>
            <a:r>
              <a:rPr lang="en-US" sz="1200" dirty="0">
                <a:solidFill>
                  <a:srgbClr val="2C3E50"/>
                </a:solidFill>
                <a:latin typeface="Calibri" pitchFamily="34" charset="0"/>
                <a:ea typeface="Calibri" pitchFamily="34" charset="-122"/>
                <a:cs typeface="Calibri" pitchFamily="34" charset="-120"/>
              </a:rPr>
              <a:t>Java es uno de los lenguajes mas usados en empresas para construir servidores. Spring Boot facilita crear ese servidor configurando muchas cosas automaticamente. La conexion con la base de datos se gestiona mediante JPA, una libreria que permite trabajar con los datos como si fueran objetos Java sin escribir SQL a mano.</a:t>
            </a:r>
            <a:endParaRPr lang="en-US" sz="1200" dirty="0"/>
          </a:p>
        </p:txBody>
      </p:sp>
      <p:sp>
        <p:nvSpPr>
          <p:cNvPr id="8" name="Text 6"/>
          <p:cNvSpPr/>
          <p:nvPr/>
        </p:nvSpPr>
        <p:spPr>
          <a:xfrm>
            <a:off x="347472" y="2944368"/>
            <a:ext cx="4206240" cy="274320"/>
          </a:xfrm>
          <a:prstGeom prst="rect">
            <a:avLst/>
          </a:prstGeom>
          <a:noFill/>
          <a:ln/>
        </p:spPr>
        <p:txBody>
          <a:bodyPr wrap="square" lIns="0" tIns="0" rIns="0" bIns="0" rtlCol="0" anchor="ctr"/>
          <a:lstStyle/>
          <a:p>
            <a:pPr marL="0" indent="0">
              <a:buNone/>
            </a:pPr>
            <a:r>
              <a:rPr lang="en-US" sz="1300" b="1" dirty="0">
                <a:solidFill>
                  <a:srgbClr val="1C2B4A"/>
                </a:solidFill>
                <a:latin typeface="Calibri" pitchFamily="34" charset="0"/>
                <a:ea typeface="Calibri" pitchFamily="34" charset="-122"/>
                <a:cs typeface="Calibri" pitchFamily="34" charset="-120"/>
              </a:rPr>
              <a:t>Que puede hacer el servidor</a:t>
            </a:r>
            <a:endParaRPr lang="en-US" sz="1300" dirty="0"/>
          </a:p>
        </p:txBody>
      </p:sp>
      <p:sp>
        <p:nvSpPr>
          <p:cNvPr id="10" name="Text 8"/>
          <p:cNvSpPr/>
          <p:nvPr/>
        </p:nvSpPr>
        <p:spPr>
          <a:xfrm>
            <a:off x="347472" y="3273552"/>
            <a:ext cx="566928" cy="329184"/>
          </a:xfrm>
          <a:prstGeom prst="rect">
            <a:avLst/>
          </a:prstGeom>
          <a:noFill/>
          <a:ln/>
        </p:spPr>
        <p:txBody>
          <a:bodyPr wrap="square" lIns="0" tIns="0" rIns="0" bIns="0" rtlCol="0" anchor="ctr"/>
          <a:lstStyle/>
          <a:p>
            <a:pPr marL="0" indent="0" algn="ctr">
              <a:buNone/>
            </a:pPr>
            <a:endParaRPr lang="en-US" sz="1000" dirty="0"/>
          </a:p>
        </p:txBody>
      </p:sp>
      <p:sp>
        <p:nvSpPr>
          <p:cNvPr id="11" name="Text 9"/>
          <p:cNvSpPr/>
          <p:nvPr/>
        </p:nvSpPr>
        <p:spPr>
          <a:xfrm>
            <a:off x="347472" y="3282696"/>
            <a:ext cx="3566160" cy="32918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Registrar a un nuevo usuario con sus datos y tecnologias</a:t>
            </a:r>
            <a:endParaRPr lang="en-US" sz="1200" dirty="0"/>
          </a:p>
        </p:txBody>
      </p:sp>
      <p:sp>
        <p:nvSpPr>
          <p:cNvPr id="13" name="Text 11"/>
          <p:cNvSpPr/>
          <p:nvPr/>
        </p:nvSpPr>
        <p:spPr>
          <a:xfrm>
            <a:off x="347472" y="3703320"/>
            <a:ext cx="566928" cy="329184"/>
          </a:xfrm>
          <a:prstGeom prst="rect">
            <a:avLst/>
          </a:prstGeom>
          <a:noFill/>
          <a:ln/>
        </p:spPr>
        <p:txBody>
          <a:bodyPr wrap="square" lIns="0" tIns="0" rIns="0" bIns="0" rtlCol="0" anchor="ctr"/>
          <a:lstStyle/>
          <a:p>
            <a:pPr marL="0" indent="0" algn="ctr">
              <a:buNone/>
            </a:pPr>
            <a:endParaRPr lang="en-US" sz="1000" dirty="0"/>
          </a:p>
        </p:txBody>
      </p:sp>
      <p:sp>
        <p:nvSpPr>
          <p:cNvPr id="14" name="Text 12"/>
          <p:cNvSpPr/>
          <p:nvPr/>
        </p:nvSpPr>
        <p:spPr>
          <a:xfrm>
            <a:off x="347472" y="3739896"/>
            <a:ext cx="3566160" cy="32918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Comprobar si el email y la contrasena de un usuario son correctos</a:t>
            </a:r>
            <a:endParaRPr lang="en-US" sz="1200" dirty="0"/>
          </a:p>
        </p:txBody>
      </p:sp>
      <p:sp>
        <p:nvSpPr>
          <p:cNvPr id="16" name="Text 14"/>
          <p:cNvSpPr/>
          <p:nvPr/>
        </p:nvSpPr>
        <p:spPr>
          <a:xfrm>
            <a:off x="347472" y="4133088"/>
            <a:ext cx="566928" cy="329184"/>
          </a:xfrm>
          <a:prstGeom prst="rect">
            <a:avLst/>
          </a:prstGeom>
          <a:noFill/>
          <a:ln/>
        </p:spPr>
        <p:txBody>
          <a:bodyPr wrap="square" lIns="0" tIns="0" rIns="0" bIns="0" rtlCol="0" anchor="ctr"/>
          <a:lstStyle/>
          <a:p>
            <a:pPr marL="0" indent="0" algn="ctr">
              <a:buNone/>
            </a:pPr>
            <a:endParaRPr lang="en-US" sz="1000" dirty="0"/>
          </a:p>
        </p:txBody>
      </p:sp>
      <p:sp>
        <p:nvSpPr>
          <p:cNvPr id="17" name="Text 15"/>
          <p:cNvSpPr/>
          <p:nvPr/>
        </p:nvSpPr>
        <p:spPr>
          <a:xfrm>
            <a:off x="347472" y="4233672"/>
            <a:ext cx="3566160" cy="32918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Devolver la lista de todos los perfiles al navegador</a:t>
            </a:r>
            <a:endParaRPr lang="en-US" sz="1200" dirty="0"/>
          </a:p>
        </p:txBody>
      </p:sp>
      <p:sp>
        <p:nvSpPr>
          <p:cNvPr id="19" name="Text 17"/>
          <p:cNvSpPr/>
          <p:nvPr/>
        </p:nvSpPr>
        <p:spPr>
          <a:xfrm>
            <a:off x="347472" y="4562856"/>
            <a:ext cx="566928" cy="329184"/>
          </a:xfrm>
          <a:prstGeom prst="rect">
            <a:avLst/>
          </a:prstGeom>
          <a:noFill/>
          <a:ln/>
        </p:spPr>
        <p:txBody>
          <a:bodyPr wrap="square" lIns="0" tIns="0" rIns="0" bIns="0" rtlCol="0" anchor="ctr"/>
          <a:lstStyle/>
          <a:p>
            <a:pPr marL="0" indent="0" algn="ctr">
              <a:buNone/>
            </a:pPr>
            <a:endParaRPr lang="en-US" sz="1000" dirty="0"/>
          </a:p>
        </p:txBody>
      </p:sp>
      <p:sp>
        <p:nvSpPr>
          <p:cNvPr id="20" name="Text 18"/>
          <p:cNvSpPr/>
          <p:nvPr/>
        </p:nvSpPr>
        <p:spPr>
          <a:xfrm>
            <a:off x="347472" y="4638822"/>
            <a:ext cx="3566160" cy="329184"/>
          </a:xfrm>
          <a:prstGeom prst="rect">
            <a:avLst/>
          </a:prstGeom>
          <a:noFill/>
          <a:ln/>
        </p:spPr>
        <p:txBody>
          <a:bodyPr wrap="square" lIns="0" tIns="0" rIns="0" bIns="0" rtlCol="0" anchor="ctr"/>
          <a:lstStyle/>
          <a:p>
            <a:pPr marL="0" indent="0">
              <a:buNone/>
            </a:pPr>
            <a:r>
              <a:rPr lang="en-US" sz="1200" dirty="0">
                <a:solidFill>
                  <a:srgbClr val="2C3E50"/>
                </a:solidFill>
                <a:latin typeface="Calibri" pitchFamily="34" charset="0"/>
                <a:ea typeface="Calibri" pitchFamily="34" charset="-122"/>
                <a:cs typeface="Calibri" pitchFamily="34" charset="-120"/>
              </a:rPr>
              <a:t>Guardar un like y detectar si se ha producido un match</a:t>
            </a:r>
            <a:endParaRPr lang="en-US" sz="1200" dirty="0"/>
          </a:p>
        </p:txBody>
      </p:sp>
      <p:sp>
        <p:nvSpPr>
          <p:cNvPr id="21" name="Text 19"/>
          <p:cNvSpPr/>
          <p:nvPr/>
        </p:nvSpPr>
        <p:spPr>
          <a:xfrm>
            <a:off x="4773168" y="932688"/>
            <a:ext cx="4023360" cy="256032"/>
          </a:xfrm>
          <a:prstGeom prst="rect">
            <a:avLst/>
          </a:prstGeom>
          <a:noFill/>
          <a:ln/>
        </p:spPr>
        <p:txBody>
          <a:bodyPr wrap="square" lIns="0" tIns="0" rIns="0" bIns="0" rtlCol="0" anchor="ctr"/>
          <a:lstStyle/>
          <a:p>
            <a:pPr marL="0" indent="0">
              <a:buNone/>
            </a:pPr>
            <a:r>
              <a:rPr lang="en-US" sz="1300" b="1" dirty="0">
                <a:solidFill>
                  <a:srgbClr val="1C2B4A"/>
                </a:solidFill>
                <a:latin typeface="Calibri" pitchFamily="34" charset="0"/>
                <a:ea typeface="Calibri" pitchFamily="34" charset="-122"/>
                <a:cs typeface="Calibri" pitchFamily="34" charset="-120"/>
              </a:rPr>
              <a:t>El servidor arrancado</a:t>
            </a:r>
            <a:endParaRPr lang="en-US" sz="1300" dirty="0"/>
          </a:p>
        </p:txBody>
      </p:sp>
      <p:pic>
        <p:nvPicPr>
          <p:cNvPr id="22" name="Image 0" descr="/tmp/p_cap_23_spring_arranque.png"/>
          <p:cNvPicPr>
            <a:picLocks noChangeAspect="1"/>
          </p:cNvPicPr>
          <p:nvPr/>
        </p:nvPicPr>
        <p:blipFill>
          <a:blip r:embed="rId3"/>
          <a:stretch>
            <a:fillRect/>
          </a:stretch>
        </p:blipFill>
        <p:spPr>
          <a:xfrm>
            <a:off x="5209805" y="1225296"/>
            <a:ext cx="3150086" cy="1645920"/>
          </a:xfrm>
          <a:prstGeom prst="rect">
            <a:avLst/>
          </a:prstGeom>
        </p:spPr>
      </p:pic>
      <p:sp>
        <p:nvSpPr>
          <p:cNvPr id="23" name="Text 20"/>
          <p:cNvSpPr/>
          <p:nvPr/>
        </p:nvSpPr>
        <p:spPr>
          <a:xfrm>
            <a:off x="4773168" y="2926080"/>
            <a:ext cx="4023360" cy="713232"/>
          </a:xfrm>
          <a:prstGeom prst="rect">
            <a:avLst/>
          </a:prstGeom>
          <a:noFill/>
          <a:ln/>
        </p:spPr>
        <p:txBody>
          <a:bodyPr wrap="square" lIns="0" tIns="0" rIns="0" bIns="0" rtlCol="0" anchor="t"/>
          <a:lstStyle/>
          <a:p>
            <a:pPr marL="0" indent="0" algn="l">
              <a:lnSpc>
                <a:spcPct val="132000"/>
              </a:lnSpc>
              <a:buNone/>
            </a:pPr>
            <a:r>
              <a:rPr lang="en-US" sz="1100" dirty="0">
                <a:solidFill>
                  <a:srgbClr val="2C3E50"/>
                </a:solidFill>
                <a:latin typeface="Calibri" pitchFamily="34" charset="0"/>
                <a:ea typeface="Calibri" pitchFamily="34" charset="-122"/>
                <a:cs typeface="Calibri" pitchFamily="34" charset="-120"/>
              </a:rPr>
              <a:t>Cuando se arranca el servidor, la pantalla confirma que se ha conectado a la base de datos, lista los usuarios registrados y queda listo en el puerto 8080.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C2B4A"/>
          </a:solidFill>
          <a:ln w="12700">
            <a:solidFill>
              <a:srgbClr val="1C2B4A"/>
            </a:solidFill>
            <a:prstDash val="solid"/>
          </a:ln>
        </p:spPr>
        <p:txBody>
          <a:bodyPr/>
          <a:lstStyle/>
          <a:p>
            <a:endParaRPr lang="es-ES"/>
          </a:p>
        </p:txBody>
      </p:sp>
      <p:sp>
        <p:nvSpPr>
          <p:cNvPr id="3" name="Text 1"/>
          <p:cNvSpPr/>
          <p:nvPr/>
        </p:nvSpPr>
        <p:spPr>
          <a:xfrm>
            <a:off x="347472" y="36576"/>
            <a:ext cx="8595360" cy="201168"/>
          </a:xfrm>
          <a:prstGeom prst="rect">
            <a:avLst/>
          </a:prstGeom>
          <a:noFill/>
          <a:ln/>
        </p:spPr>
        <p:txBody>
          <a:bodyPr wrap="square" lIns="0" tIns="0" rIns="0" bIns="0" rtlCol="0" anchor="ctr"/>
          <a:lstStyle/>
          <a:p>
            <a:pPr marL="0" indent="0">
              <a:buNone/>
            </a:pPr>
            <a:r>
              <a:rPr lang="en-US" sz="900" b="1" kern="0" spc="300" dirty="0">
                <a:solidFill>
                  <a:srgbClr val="B03A2E"/>
                </a:solidFill>
                <a:latin typeface="Calibri" pitchFamily="34" charset="0"/>
                <a:ea typeface="Calibri" pitchFamily="34" charset="-122"/>
                <a:cs typeface="Calibri" pitchFamily="34" charset="-120"/>
              </a:rPr>
              <a:t>LENGUAJES DE MARCAS</a:t>
            </a:r>
            <a:endParaRPr lang="en-US" sz="900" dirty="0"/>
          </a:p>
        </p:txBody>
      </p:sp>
      <p:sp>
        <p:nvSpPr>
          <p:cNvPr id="4" name="Text 2"/>
          <p:cNvSpPr/>
          <p:nvPr/>
        </p:nvSpPr>
        <p:spPr>
          <a:xfrm>
            <a:off x="347472" y="164592"/>
            <a:ext cx="8595360" cy="566928"/>
          </a:xfrm>
          <a:prstGeom prst="rect">
            <a:avLst/>
          </a:prstGeom>
          <a:noFill/>
          <a:ln/>
        </p:spPr>
        <p:txBody>
          <a:bodyPr wrap="square" lIns="0" tIns="0" rIns="0" bIns="0" rtlCol="0" anchor="ctr"/>
          <a:lstStyle/>
          <a:p>
            <a:pPr marL="0" indent="0" algn="l">
              <a:buNone/>
            </a:pPr>
            <a:r>
              <a:rPr lang="en-US" sz="2700" b="1" dirty="0">
                <a:solidFill>
                  <a:srgbClr val="1C2B4A"/>
                </a:solidFill>
                <a:latin typeface="Calibri" pitchFamily="34" charset="0"/>
                <a:ea typeface="Calibri" pitchFamily="34" charset="-122"/>
                <a:cs typeface="Calibri" pitchFamily="34" charset="-120"/>
              </a:rPr>
              <a:t>La interfaz: lo que ve el usuario</a:t>
            </a:r>
            <a:endParaRPr lang="en-US" sz="2700" dirty="0"/>
          </a:p>
        </p:txBody>
      </p:sp>
      <p:sp>
        <p:nvSpPr>
          <p:cNvPr id="5" name="Shape 3"/>
          <p:cNvSpPr/>
          <p:nvPr/>
        </p:nvSpPr>
        <p:spPr>
          <a:xfrm>
            <a:off x="347472" y="768096"/>
            <a:ext cx="8449056" cy="0"/>
          </a:xfrm>
          <a:prstGeom prst="line">
            <a:avLst/>
          </a:prstGeom>
          <a:noFill/>
          <a:ln w="8890">
            <a:solidFill>
              <a:srgbClr val="AEB6BF"/>
            </a:solidFill>
            <a:prstDash val="solid"/>
          </a:ln>
        </p:spPr>
        <p:txBody>
          <a:bodyPr/>
          <a:lstStyle/>
          <a:p>
            <a:endParaRPr lang="es-ES"/>
          </a:p>
        </p:txBody>
      </p:sp>
      <p:sp>
        <p:nvSpPr>
          <p:cNvPr id="6" name="Text 4"/>
          <p:cNvSpPr/>
          <p:nvPr/>
        </p:nvSpPr>
        <p:spPr>
          <a:xfrm>
            <a:off x="347472" y="932688"/>
            <a:ext cx="4187952"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Inicio de sesion</a:t>
            </a:r>
            <a:endParaRPr lang="en-US" sz="1200" dirty="0"/>
          </a:p>
        </p:txBody>
      </p:sp>
      <p:pic>
        <p:nvPicPr>
          <p:cNvPr id="7" name="Image 0" descr="/tmp/p_cap_24_login.png"/>
          <p:cNvPicPr>
            <a:picLocks noChangeAspect="1"/>
          </p:cNvPicPr>
          <p:nvPr/>
        </p:nvPicPr>
        <p:blipFill>
          <a:blip r:embed="rId3"/>
          <a:stretch>
            <a:fillRect/>
          </a:stretch>
        </p:blipFill>
        <p:spPr>
          <a:xfrm>
            <a:off x="537078" y="1225296"/>
            <a:ext cx="3808740" cy="1920240"/>
          </a:xfrm>
          <a:prstGeom prst="rect">
            <a:avLst/>
          </a:prstGeom>
        </p:spPr>
      </p:pic>
      <p:sp>
        <p:nvSpPr>
          <p:cNvPr id="8" name="Text 5"/>
          <p:cNvSpPr/>
          <p:nvPr/>
        </p:nvSpPr>
        <p:spPr>
          <a:xfrm>
            <a:off x="347472" y="3200400"/>
            <a:ext cx="4187952" cy="1005840"/>
          </a:xfrm>
          <a:prstGeom prst="rect">
            <a:avLst/>
          </a:prstGeom>
          <a:noFill/>
          <a:ln/>
        </p:spPr>
        <p:txBody>
          <a:bodyPr wrap="square" lIns="0" tIns="0" rIns="0" bIns="0" rtlCol="0" anchor="t"/>
          <a:lstStyle/>
          <a:p>
            <a:pPr marL="0" indent="0" algn="l">
              <a:lnSpc>
                <a:spcPct val="132000"/>
              </a:lnSpc>
              <a:buNone/>
            </a:pPr>
            <a:r>
              <a:rPr lang="en-US" sz="1300" dirty="0">
                <a:solidFill>
                  <a:srgbClr val="2C3E50"/>
                </a:solidFill>
                <a:latin typeface="Calibri" pitchFamily="34" charset="0"/>
                <a:ea typeface="Calibri" pitchFamily="34" charset="-122"/>
                <a:cs typeface="Calibri" pitchFamily="34" charset="-120"/>
              </a:rPr>
              <a:t>El formulario de entrada pide el email y la contrasena. Si son correctos, el usuario accede directamente. Si no lo son, aparece un aviso de error sin decir cual de los dos datos falla, para no dar pistas a alguien que intente entrar sin permiso.</a:t>
            </a:r>
            <a:endParaRPr lang="en-US" sz="1300" dirty="0"/>
          </a:p>
        </p:txBody>
      </p:sp>
      <p:sp>
        <p:nvSpPr>
          <p:cNvPr id="9" name="Text 6"/>
          <p:cNvSpPr/>
          <p:nvPr/>
        </p:nvSpPr>
        <p:spPr>
          <a:xfrm>
            <a:off x="4773168" y="932688"/>
            <a:ext cx="4023360"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Vista de perfiles</a:t>
            </a:r>
            <a:endParaRPr lang="en-US" sz="1200" dirty="0"/>
          </a:p>
        </p:txBody>
      </p:sp>
      <p:pic>
        <p:nvPicPr>
          <p:cNvPr id="10" name="Image 1" descr="/tmp/p_cap_26_perfiles.png"/>
          <p:cNvPicPr>
            <a:picLocks noChangeAspect="1"/>
          </p:cNvPicPr>
          <p:nvPr/>
        </p:nvPicPr>
        <p:blipFill>
          <a:blip r:embed="rId4"/>
          <a:stretch>
            <a:fillRect/>
          </a:stretch>
        </p:blipFill>
        <p:spPr>
          <a:xfrm>
            <a:off x="4899179" y="1225296"/>
            <a:ext cx="3771339" cy="1920240"/>
          </a:xfrm>
          <a:prstGeom prst="rect">
            <a:avLst/>
          </a:prstGeom>
        </p:spPr>
      </p:pic>
      <p:sp>
        <p:nvSpPr>
          <p:cNvPr id="11" name="Text 7"/>
          <p:cNvSpPr/>
          <p:nvPr/>
        </p:nvSpPr>
        <p:spPr>
          <a:xfrm>
            <a:off x="4773168" y="3200400"/>
            <a:ext cx="4023360" cy="1005840"/>
          </a:xfrm>
          <a:prstGeom prst="rect">
            <a:avLst/>
          </a:prstGeom>
          <a:noFill/>
          <a:ln/>
        </p:spPr>
        <p:txBody>
          <a:bodyPr wrap="square" lIns="0" tIns="0" rIns="0" bIns="0" rtlCol="0" anchor="t"/>
          <a:lstStyle/>
          <a:p>
            <a:pPr marL="0" indent="0" algn="l">
              <a:lnSpc>
                <a:spcPct val="132000"/>
              </a:lnSpc>
              <a:buNone/>
            </a:pPr>
            <a:r>
              <a:rPr lang="en-US" sz="1300" dirty="0">
                <a:solidFill>
                  <a:srgbClr val="2C3E50"/>
                </a:solidFill>
                <a:latin typeface="Calibri" pitchFamily="34" charset="0"/>
                <a:ea typeface="Calibri" pitchFamily="34" charset="-122"/>
                <a:cs typeface="Calibri" pitchFamily="34" charset="-120"/>
              </a:rPr>
              <a:t>Una vez dentro, la pagina carga automaticamente los perfiles de otros desarrolladores. Cada tarjeta se genera al momento con los datos que devuelve el servidor. Al pulsar Like, el boton cambia de aspecto para indicar que ya se ha enviado.</a:t>
            </a:r>
            <a:endParaRPr lang="en-US" sz="1300" dirty="0"/>
          </a:p>
        </p:txBody>
      </p:sp>
      <p:sp>
        <p:nvSpPr>
          <p:cNvPr id="12" name="Shape 8"/>
          <p:cNvSpPr/>
          <p:nvPr/>
        </p:nvSpPr>
        <p:spPr>
          <a:xfrm>
            <a:off x="347472" y="4279392"/>
            <a:ext cx="8449056" cy="658368"/>
          </a:xfrm>
          <a:prstGeom prst="rect">
            <a:avLst/>
          </a:prstGeom>
          <a:solidFill>
            <a:srgbClr val="1C2B4A"/>
          </a:solidFill>
          <a:ln w="12700">
            <a:solidFill>
              <a:srgbClr val="1C2B4A"/>
            </a:solidFill>
            <a:prstDash val="solid"/>
          </a:ln>
        </p:spPr>
        <p:txBody>
          <a:bodyPr/>
          <a:lstStyle/>
          <a:p>
            <a:endParaRPr lang="es-ES"/>
          </a:p>
        </p:txBody>
      </p:sp>
      <p:sp>
        <p:nvSpPr>
          <p:cNvPr id="13" name="Text 9"/>
          <p:cNvSpPr/>
          <p:nvPr/>
        </p:nvSpPr>
        <p:spPr>
          <a:xfrm>
            <a:off x="475488" y="4315968"/>
            <a:ext cx="8229600" cy="566928"/>
          </a:xfrm>
          <a:prstGeom prst="rect">
            <a:avLst/>
          </a:prstGeom>
          <a:noFill/>
          <a:ln/>
        </p:spPr>
        <p:txBody>
          <a:bodyPr wrap="square" lIns="0" tIns="0" rIns="0" bIns="0" rtlCol="0" anchor="t"/>
          <a:lstStyle/>
          <a:p>
            <a:pPr marL="0" indent="0" algn="l">
              <a:lnSpc>
                <a:spcPct val="132000"/>
              </a:lnSpc>
              <a:buNone/>
            </a:pPr>
            <a:r>
              <a:rPr lang="en-US" sz="1200" dirty="0">
                <a:solidFill>
                  <a:srgbClr val="AEB6BF"/>
                </a:solidFill>
                <a:latin typeface="Calibri" pitchFamily="34" charset="0"/>
                <a:ea typeface="Calibri" pitchFamily="34" charset="-122"/>
                <a:cs typeface="Calibri" pitchFamily="34" charset="-120"/>
              </a:rPr>
              <a:t>La pagina nunca se recarga completa. Cada accion del usuario (hacer login, cargar perfiles, dar like) envia una peticion al servidor en segundo plano y actualiza solo lo necesario. Esto hace que la experiencia sea rapida y fluida.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338"/>
        </a:solidFill>
        <a:effectLst/>
      </p:bgPr>
    </p:bg>
    <p:spTree>
      <p:nvGrpSpPr>
        <p:cNvPr id="1" name=""/>
        <p:cNvGrpSpPr/>
        <p:nvPr/>
      </p:nvGrpSpPr>
      <p:grpSpPr>
        <a:xfrm>
          <a:off x="0" y="0"/>
          <a:ext cx="0" cy="0"/>
          <a:chOff x="0" y="0"/>
          <a:chExt cx="0" cy="0"/>
        </a:xfrm>
      </p:grpSpPr>
      <p:sp>
        <p:nvSpPr>
          <p:cNvPr id="2" name="Text 0"/>
          <p:cNvSpPr/>
          <p:nvPr/>
        </p:nvSpPr>
        <p:spPr>
          <a:xfrm>
            <a:off x="347472" y="36576"/>
            <a:ext cx="8595360" cy="201168"/>
          </a:xfrm>
          <a:prstGeom prst="rect">
            <a:avLst/>
          </a:prstGeom>
          <a:noFill/>
          <a:ln/>
        </p:spPr>
        <p:txBody>
          <a:bodyPr wrap="square" lIns="0" tIns="0" rIns="0" bIns="0" rtlCol="0" anchor="ctr"/>
          <a:lstStyle/>
          <a:p>
            <a:pPr marL="0" indent="0">
              <a:buNone/>
            </a:pPr>
            <a:r>
              <a:rPr lang="en-US" sz="900" b="1" kern="0" spc="300" dirty="0">
                <a:solidFill>
                  <a:srgbClr val="B03A2E"/>
                </a:solidFill>
                <a:latin typeface="Calibri" pitchFamily="34" charset="0"/>
                <a:ea typeface="Calibri" pitchFamily="34" charset="-122"/>
                <a:cs typeface="Calibri" pitchFamily="34" charset="-120"/>
              </a:rPr>
              <a:t>EL RESULTADO</a:t>
            </a:r>
            <a:endParaRPr lang="en-US" sz="900" dirty="0"/>
          </a:p>
        </p:txBody>
      </p:sp>
      <p:sp>
        <p:nvSpPr>
          <p:cNvPr id="3" name="Text 1"/>
          <p:cNvSpPr/>
          <p:nvPr/>
        </p:nvSpPr>
        <p:spPr>
          <a:xfrm>
            <a:off x="347472" y="164592"/>
            <a:ext cx="8595360" cy="566928"/>
          </a:xfrm>
          <a:prstGeom prst="rect">
            <a:avLst/>
          </a:prstGeom>
          <a:noFill/>
          <a:ln/>
        </p:spPr>
        <p:txBody>
          <a:bodyPr wrap="square" lIns="0" tIns="0" rIns="0" bIns="0" rtlCol="0" anchor="ctr"/>
          <a:lstStyle/>
          <a:p>
            <a:pPr marL="0" indent="0" algn="l">
              <a:buNone/>
            </a:pPr>
            <a:r>
              <a:rPr lang="en-US" sz="2700" b="1" dirty="0">
                <a:solidFill>
                  <a:srgbClr val="FFFFFF"/>
                </a:solidFill>
                <a:latin typeface="Calibri" pitchFamily="34" charset="0"/>
                <a:ea typeface="Calibri" pitchFamily="34" charset="-122"/>
                <a:cs typeface="Calibri" pitchFamily="34" charset="-120"/>
              </a:rPr>
              <a:t>El match en accion</a:t>
            </a:r>
            <a:endParaRPr lang="en-US" sz="2700" dirty="0"/>
          </a:p>
        </p:txBody>
      </p:sp>
      <p:sp>
        <p:nvSpPr>
          <p:cNvPr id="4" name="Shape 2"/>
          <p:cNvSpPr/>
          <p:nvPr/>
        </p:nvSpPr>
        <p:spPr>
          <a:xfrm>
            <a:off x="347472" y="768096"/>
            <a:ext cx="8449056" cy="0"/>
          </a:xfrm>
          <a:prstGeom prst="line">
            <a:avLst/>
          </a:prstGeom>
          <a:noFill/>
          <a:ln w="8890">
            <a:solidFill>
              <a:srgbClr val="AEB6BF"/>
            </a:solidFill>
            <a:prstDash val="solid"/>
          </a:ln>
        </p:spPr>
        <p:txBody>
          <a:bodyPr/>
          <a:lstStyle/>
          <a:p>
            <a:endParaRPr lang="es-ES"/>
          </a:p>
        </p:txBody>
      </p:sp>
      <p:sp>
        <p:nvSpPr>
          <p:cNvPr id="5" name="Text 3"/>
          <p:cNvSpPr/>
          <p:nvPr/>
        </p:nvSpPr>
        <p:spPr>
          <a:xfrm>
            <a:off x="347472" y="914400"/>
            <a:ext cx="4297680" cy="256032"/>
          </a:xfrm>
          <a:prstGeom prst="rect">
            <a:avLst/>
          </a:prstGeom>
          <a:noFill/>
          <a:ln/>
        </p:spPr>
        <p:txBody>
          <a:bodyPr wrap="square" lIns="0" tIns="0" rIns="0" bIns="0" rtlCol="0" anchor="ctr"/>
          <a:lstStyle/>
          <a:p>
            <a:pPr marL="0" indent="0">
              <a:buNone/>
            </a:pPr>
            <a:r>
              <a:rPr lang="en-US" sz="1200" b="1" dirty="0">
                <a:solidFill>
                  <a:srgbClr val="AEB6BF"/>
                </a:solidFill>
                <a:latin typeface="Calibri" pitchFamily="34" charset="0"/>
                <a:ea typeface="Calibri" pitchFamily="34" charset="-122"/>
                <a:cs typeface="Calibri" pitchFamily="34" charset="-120"/>
              </a:rPr>
              <a:t>Notificacion de match</a:t>
            </a:r>
            <a:endParaRPr lang="en-US" sz="1200" dirty="0"/>
          </a:p>
        </p:txBody>
      </p:sp>
      <p:pic>
        <p:nvPicPr>
          <p:cNvPr id="6" name="Image 0" descr="/tmp/p_cap_30_match_popup.png"/>
          <p:cNvPicPr>
            <a:picLocks noChangeAspect="1"/>
          </p:cNvPicPr>
          <p:nvPr/>
        </p:nvPicPr>
        <p:blipFill>
          <a:blip r:embed="rId3"/>
          <a:stretch>
            <a:fillRect/>
          </a:stretch>
        </p:blipFill>
        <p:spPr>
          <a:xfrm>
            <a:off x="347472" y="1821485"/>
            <a:ext cx="4297680" cy="2062886"/>
          </a:xfrm>
          <a:prstGeom prst="rect">
            <a:avLst/>
          </a:prstGeom>
        </p:spPr>
      </p:pic>
      <p:sp>
        <p:nvSpPr>
          <p:cNvPr id="7" name="Text 4"/>
          <p:cNvSpPr/>
          <p:nvPr/>
        </p:nvSpPr>
        <p:spPr>
          <a:xfrm>
            <a:off x="347472" y="4553712"/>
            <a:ext cx="4297680" cy="420624"/>
          </a:xfrm>
          <a:prstGeom prst="rect">
            <a:avLst/>
          </a:prstGeom>
          <a:noFill/>
          <a:ln/>
        </p:spPr>
        <p:txBody>
          <a:bodyPr wrap="square" lIns="0" tIns="0" rIns="0" bIns="0" rtlCol="0" anchor="t"/>
          <a:lstStyle/>
          <a:p>
            <a:pPr marL="0" indent="0" algn="l">
              <a:lnSpc>
                <a:spcPct val="132000"/>
              </a:lnSpc>
              <a:buNone/>
            </a:pPr>
            <a:r>
              <a:rPr lang="en-US" sz="1100" dirty="0">
                <a:solidFill>
                  <a:srgbClr val="AEB6BF"/>
                </a:solidFill>
                <a:latin typeface="Calibri" pitchFamily="34" charset="0"/>
                <a:ea typeface="Calibri" pitchFamily="34" charset="-122"/>
                <a:cs typeface="Calibri" pitchFamily="34" charset="-120"/>
              </a:rPr>
              <a:t>Aparece automaticamente en pantalla cuando el sistema detecta que dos usuarios se han dado like mutuamente.</a:t>
            </a:r>
            <a:endParaRPr lang="en-US" sz="1100" dirty="0"/>
          </a:p>
        </p:txBody>
      </p:sp>
      <p:sp>
        <p:nvSpPr>
          <p:cNvPr id="8" name="Text 5"/>
          <p:cNvSpPr/>
          <p:nvPr/>
        </p:nvSpPr>
        <p:spPr>
          <a:xfrm>
            <a:off x="4828032" y="914400"/>
            <a:ext cx="3968496" cy="256032"/>
          </a:xfrm>
          <a:prstGeom prst="rect">
            <a:avLst/>
          </a:prstGeom>
          <a:noFill/>
          <a:ln/>
        </p:spPr>
        <p:txBody>
          <a:bodyPr wrap="square" lIns="0" tIns="0" rIns="0" bIns="0" rtlCol="0" anchor="ctr"/>
          <a:lstStyle/>
          <a:p>
            <a:pPr marL="0" indent="0">
              <a:buNone/>
            </a:pPr>
            <a:r>
              <a:rPr lang="en-US" sz="1200" b="1" dirty="0">
                <a:solidFill>
                  <a:srgbClr val="AEB6BF"/>
                </a:solidFill>
                <a:latin typeface="Calibri" pitchFamily="34" charset="0"/>
                <a:ea typeface="Calibri" pitchFamily="34" charset="-122"/>
                <a:cs typeface="Calibri" pitchFamily="34" charset="-120"/>
              </a:rPr>
              <a:t>Ficha de compatibilidad</a:t>
            </a:r>
            <a:endParaRPr lang="en-US" sz="1200" dirty="0"/>
          </a:p>
        </p:txBody>
      </p:sp>
      <p:pic>
        <p:nvPicPr>
          <p:cNvPr id="9" name="Image 1" descr="/tmp/p_cap_31_ficha_match.png"/>
          <p:cNvPicPr>
            <a:picLocks noChangeAspect="1"/>
          </p:cNvPicPr>
          <p:nvPr/>
        </p:nvPicPr>
        <p:blipFill>
          <a:blip r:embed="rId4"/>
          <a:stretch>
            <a:fillRect/>
          </a:stretch>
        </p:blipFill>
        <p:spPr>
          <a:xfrm>
            <a:off x="4828032" y="1852536"/>
            <a:ext cx="3968496" cy="2000783"/>
          </a:xfrm>
          <a:prstGeom prst="rect">
            <a:avLst/>
          </a:prstGeom>
        </p:spPr>
      </p:pic>
      <p:sp>
        <p:nvSpPr>
          <p:cNvPr id="10" name="Text 6"/>
          <p:cNvSpPr/>
          <p:nvPr/>
        </p:nvSpPr>
        <p:spPr>
          <a:xfrm>
            <a:off x="4828032" y="4553712"/>
            <a:ext cx="3968496" cy="420624"/>
          </a:xfrm>
          <a:prstGeom prst="rect">
            <a:avLst/>
          </a:prstGeom>
          <a:noFill/>
          <a:ln/>
        </p:spPr>
        <p:txBody>
          <a:bodyPr wrap="square" lIns="0" tIns="0" rIns="0" bIns="0" rtlCol="0" anchor="t"/>
          <a:lstStyle/>
          <a:p>
            <a:pPr marL="0" indent="0" algn="l">
              <a:lnSpc>
                <a:spcPct val="132000"/>
              </a:lnSpc>
              <a:buNone/>
            </a:pPr>
            <a:r>
              <a:rPr lang="en-US" sz="1100" dirty="0">
                <a:solidFill>
                  <a:srgbClr val="AEB6BF"/>
                </a:solidFill>
                <a:latin typeface="Calibri" pitchFamily="34" charset="0"/>
                <a:ea typeface="Calibri" pitchFamily="34" charset="-122"/>
                <a:cs typeface="Calibri" pitchFamily="34" charset="-120"/>
              </a:rPr>
              <a:t>Muestra los perfiles de ambos usuarios y las tecnologias que tienen en comun.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C2B4A"/>
          </a:solidFill>
          <a:ln w="12700">
            <a:solidFill>
              <a:srgbClr val="1C2B4A"/>
            </a:solidFill>
            <a:prstDash val="solid"/>
          </a:ln>
        </p:spPr>
        <p:txBody>
          <a:bodyPr/>
          <a:lstStyle/>
          <a:p>
            <a:endParaRPr lang="es-ES"/>
          </a:p>
        </p:txBody>
      </p:sp>
      <p:sp>
        <p:nvSpPr>
          <p:cNvPr id="3" name="Text 1"/>
          <p:cNvSpPr/>
          <p:nvPr/>
        </p:nvSpPr>
        <p:spPr>
          <a:xfrm>
            <a:off x="347472" y="36576"/>
            <a:ext cx="8595360" cy="201168"/>
          </a:xfrm>
          <a:prstGeom prst="rect">
            <a:avLst/>
          </a:prstGeom>
          <a:noFill/>
          <a:ln/>
        </p:spPr>
        <p:txBody>
          <a:bodyPr wrap="square" lIns="0" tIns="0" rIns="0" bIns="0" rtlCol="0" anchor="ctr"/>
          <a:lstStyle/>
          <a:p>
            <a:pPr marL="0" indent="0">
              <a:buNone/>
            </a:pPr>
            <a:r>
              <a:rPr lang="en-US" sz="900" b="1" kern="0" spc="300" dirty="0">
                <a:solidFill>
                  <a:srgbClr val="B03A2E"/>
                </a:solidFill>
                <a:latin typeface="Calibri" pitchFamily="34" charset="0"/>
                <a:ea typeface="Calibri" pitchFamily="34" charset="-122"/>
                <a:cs typeface="Calibri" pitchFamily="34" charset="-120"/>
              </a:rPr>
              <a:t>SISTEMAS INFORMATICOS</a:t>
            </a:r>
            <a:endParaRPr lang="en-US" sz="900" dirty="0"/>
          </a:p>
        </p:txBody>
      </p:sp>
      <p:sp>
        <p:nvSpPr>
          <p:cNvPr id="4" name="Text 2"/>
          <p:cNvSpPr/>
          <p:nvPr/>
        </p:nvSpPr>
        <p:spPr>
          <a:xfrm>
            <a:off x="347472" y="164592"/>
            <a:ext cx="8595360" cy="566928"/>
          </a:xfrm>
          <a:prstGeom prst="rect">
            <a:avLst/>
          </a:prstGeom>
          <a:noFill/>
          <a:ln/>
        </p:spPr>
        <p:txBody>
          <a:bodyPr wrap="square" lIns="0" tIns="0" rIns="0" bIns="0" rtlCol="0" anchor="ctr"/>
          <a:lstStyle/>
          <a:p>
            <a:pPr marL="0" indent="0" algn="l">
              <a:buNone/>
            </a:pPr>
            <a:r>
              <a:rPr lang="en-US" sz="2700" b="1" dirty="0">
                <a:solidFill>
                  <a:srgbClr val="1C2B4A"/>
                </a:solidFill>
                <a:latin typeface="Calibri" pitchFamily="34" charset="0"/>
                <a:ea typeface="Calibri" pitchFamily="34" charset="-122"/>
                <a:cs typeface="Calibri" pitchFamily="34" charset="-120"/>
              </a:rPr>
              <a:t>Entorno de trabajo y copias de seguridad</a:t>
            </a:r>
            <a:endParaRPr lang="en-US" sz="2700" dirty="0"/>
          </a:p>
        </p:txBody>
      </p:sp>
      <p:sp>
        <p:nvSpPr>
          <p:cNvPr id="5" name="Shape 3"/>
          <p:cNvSpPr/>
          <p:nvPr/>
        </p:nvSpPr>
        <p:spPr>
          <a:xfrm>
            <a:off x="347472" y="768096"/>
            <a:ext cx="8449056" cy="0"/>
          </a:xfrm>
          <a:prstGeom prst="line">
            <a:avLst/>
          </a:prstGeom>
          <a:noFill/>
          <a:ln w="8890">
            <a:solidFill>
              <a:srgbClr val="AEB6BF"/>
            </a:solidFill>
            <a:prstDash val="solid"/>
          </a:ln>
        </p:spPr>
        <p:txBody>
          <a:bodyPr/>
          <a:lstStyle/>
          <a:p>
            <a:endParaRPr lang="es-ES"/>
          </a:p>
        </p:txBody>
      </p:sp>
      <p:sp>
        <p:nvSpPr>
          <p:cNvPr id="6" name="Text 4"/>
          <p:cNvSpPr/>
          <p:nvPr/>
        </p:nvSpPr>
        <p:spPr>
          <a:xfrm>
            <a:off x="347472" y="932688"/>
            <a:ext cx="4206240" cy="274320"/>
          </a:xfrm>
          <a:prstGeom prst="rect">
            <a:avLst/>
          </a:prstGeom>
          <a:noFill/>
          <a:ln/>
        </p:spPr>
        <p:txBody>
          <a:bodyPr wrap="square" lIns="0" tIns="0" rIns="0" bIns="0" rtlCol="0" anchor="ctr"/>
          <a:lstStyle/>
          <a:p>
            <a:pPr marL="0" indent="0">
              <a:buNone/>
            </a:pPr>
            <a:r>
              <a:rPr lang="en-US" sz="1300" b="1" dirty="0">
                <a:solidFill>
                  <a:srgbClr val="B03A2E"/>
                </a:solidFill>
                <a:latin typeface="Calibri" pitchFamily="34" charset="0"/>
                <a:ea typeface="Calibri" pitchFamily="34" charset="-122"/>
                <a:cs typeface="Calibri" pitchFamily="34" charset="-120"/>
              </a:rPr>
              <a:t>De la maquina virtual a Docker</a:t>
            </a:r>
            <a:endParaRPr lang="en-US" sz="1300" dirty="0"/>
          </a:p>
        </p:txBody>
      </p:sp>
      <p:sp>
        <p:nvSpPr>
          <p:cNvPr id="7" name="Text 5"/>
          <p:cNvSpPr/>
          <p:nvPr/>
        </p:nvSpPr>
        <p:spPr>
          <a:xfrm>
            <a:off x="347472" y="1243584"/>
            <a:ext cx="4206240" cy="1298448"/>
          </a:xfrm>
          <a:prstGeom prst="rect">
            <a:avLst/>
          </a:prstGeom>
          <a:noFill/>
          <a:ln/>
        </p:spPr>
        <p:txBody>
          <a:bodyPr wrap="square" lIns="0" tIns="0" rIns="0" bIns="0" rtlCol="0" anchor="t"/>
          <a:lstStyle/>
          <a:p>
            <a:pPr marL="0" indent="0" algn="l">
              <a:lnSpc>
                <a:spcPct val="132000"/>
              </a:lnSpc>
              <a:buNone/>
            </a:pPr>
            <a:r>
              <a:rPr lang="en-US" sz="1200" dirty="0">
                <a:solidFill>
                  <a:srgbClr val="2C3E50"/>
                </a:solidFill>
                <a:latin typeface="Calibri" pitchFamily="34" charset="0"/>
                <a:ea typeface="Calibri" pitchFamily="34" charset="-122"/>
                <a:cs typeface="Calibri" pitchFamily="34" charset="-120"/>
              </a:rPr>
              <a:t>La maquina virtual con Ubuntu donde estaba la base de datos se perdio accidentalmente. Docker fue la solucion: permite ejecutar la base de datos en un contenedor, un espacio aislado que funciona igual en cualquier ordenador y arranca en segundos.</a:t>
            </a:r>
            <a:endParaRPr lang="en-US" sz="1200" dirty="0"/>
          </a:p>
        </p:txBody>
      </p:sp>
      <p:pic>
        <p:nvPicPr>
          <p:cNvPr id="8" name="Image 0" descr="/tmp/p_docker.png"/>
          <p:cNvPicPr>
            <a:picLocks noChangeAspect="1"/>
          </p:cNvPicPr>
          <p:nvPr/>
        </p:nvPicPr>
        <p:blipFill>
          <a:blip r:embed="rId3"/>
          <a:stretch>
            <a:fillRect/>
          </a:stretch>
        </p:blipFill>
        <p:spPr>
          <a:xfrm>
            <a:off x="804192" y="3401568"/>
            <a:ext cx="3292800" cy="896112"/>
          </a:xfrm>
          <a:prstGeom prst="rect">
            <a:avLst/>
          </a:prstGeom>
        </p:spPr>
      </p:pic>
      <p:sp>
        <p:nvSpPr>
          <p:cNvPr id="9" name="Text 6"/>
          <p:cNvSpPr/>
          <p:nvPr/>
        </p:nvSpPr>
        <p:spPr>
          <a:xfrm>
            <a:off x="347472" y="4352544"/>
            <a:ext cx="4206240" cy="237744"/>
          </a:xfrm>
          <a:prstGeom prst="rect">
            <a:avLst/>
          </a:prstGeom>
          <a:noFill/>
          <a:ln/>
        </p:spPr>
        <p:txBody>
          <a:bodyPr wrap="square" lIns="0" tIns="0" rIns="0" bIns="0" rtlCol="0" anchor="t"/>
          <a:lstStyle/>
          <a:p>
            <a:pPr marL="0" indent="0" algn="ctr">
              <a:lnSpc>
                <a:spcPct val="132000"/>
              </a:lnSpc>
              <a:buNone/>
            </a:pPr>
            <a:r>
              <a:rPr lang="en-US" sz="900" i="1" dirty="0">
                <a:solidFill>
                  <a:srgbClr val="AEB6BF"/>
                </a:solidFill>
                <a:latin typeface="Calibri" pitchFamily="34" charset="0"/>
                <a:ea typeface="Calibri" pitchFamily="34" charset="-122"/>
                <a:cs typeface="Calibri" pitchFamily="34" charset="-120"/>
              </a:rPr>
              <a:t>Contenedor LoveCode activo con MySQL 8 en Docker Desktop</a:t>
            </a:r>
            <a:endParaRPr lang="en-US" sz="900" dirty="0"/>
          </a:p>
        </p:txBody>
      </p:sp>
      <p:sp>
        <p:nvSpPr>
          <p:cNvPr id="10" name="Text 7"/>
          <p:cNvSpPr/>
          <p:nvPr/>
        </p:nvSpPr>
        <p:spPr>
          <a:xfrm>
            <a:off x="4773168" y="932688"/>
            <a:ext cx="4023360" cy="274320"/>
          </a:xfrm>
          <a:prstGeom prst="rect">
            <a:avLst/>
          </a:prstGeom>
          <a:noFill/>
          <a:ln/>
        </p:spPr>
        <p:txBody>
          <a:bodyPr wrap="square" lIns="0" tIns="0" rIns="0" bIns="0" rtlCol="0" anchor="ctr"/>
          <a:lstStyle/>
          <a:p>
            <a:pPr marL="0" indent="0">
              <a:buNone/>
            </a:pPr>
            <a:r>
              <a:rPr lang="en-US" sz="1300" b="1" dirty="0">
                <a:solidFill>
                  <a:srgbClr val="1C2B4A"/>
                </a:solidFill>
                <a:latin typeface="Calibri" pitchFamily="34" charset="0"/>
                <a:ea typeface="Calibri" pitchFamily="34" charset="-122"/>
                <a:cs typeface="Calibri" pitchFamily="34" charset="-120"/>
              </a:rPr>
              <a:t>Copias de seguridad</a:t>
            </a:r>
            <a:endParaRPr lang="en-US" sz="1300" dirty="0"/>
          </a:p>
        </p:txBody>
      </p:sp>
      <p:sp>
        <p:nvSpPr>
          <p:cNvPr id="11" name="Shape 8"/>
          <p:cNvSpPr/>
          <p:nvPr/>
        </p:nvSpPr>
        <p:spPr>
          <a:xfrm>
            <a:off x="4773168" y="1261872"/>
            <a:ext cx="4023360" cy="1060704"/>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12" name="Shape 9"/>
          <p:cNvSpPr/>
          <p:nvPr/>
        </p:nvSpPr>
        <p:spPr>
          <a:xfrm>
            <a:off x="4773168" y="1261872"/>
            <a:ext cx="73152" cy="1060704"/>
          </a:xfrm>
          <a:prstGeom prst="rect">
            <a:avLst/>
          </a:prstGeom>
          <a:solidFill>
            <a:srgbClr val="1C2B4A"/>
          </a:solidFill>
          <a:ln w="12700">
            <a:solidFill>
              <a:srgbClr val="1C2B4A"/>
            </a:solidFill>
            <a:prstDash val="solid"/>
          </a:ln>
        </p:spPr>
        <p:txBody>
          <a:bodyPr/>
          <a:lstStyle/>
          <a:p>
            <a:endParaRPr lang="es-ES"/>
          </a:p>
        </p:txBody>
      </p:sp>
      <p:sp>
        <p:nvSpPr>
          <p:cNvPr id="13" name="Text 10"/>
          <p:cNvSpPr/>
          <p:nvPr/>
        </p:nvSpPr>
        <p:spPr>
          <a:xfrm>
            <a:off x="4901184" y="1353312"/>
            <a:ext cx="3822192" cy="274320"/>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Backup manual</a:t>
            </a:r>
            <a:endParaRPr lang="en-US" sz="1200" dirty="0"/>
          </a:p>
        </p:txBody>
      </p:sp>
      <p:sp>
        <p:nvSpPr>
          <p:cNvPr id="14" name="Text 11"/>
          <p:cNvSpPr/>
          <p:nvPr/>
        </p:nvSpPr>
        <p:spPr>
          <a:xfrm>
            <a:off x="4901184" y="1682496"/>
            <a:ext cx="3822192" cy="585216"/>
          </a:xfrm>
          <a:prstGeom prst="rect">
            <a:avLst/>
          </a:prstGeom>
          <a:noFill/>
          <a:ln/>
        </p:spPr>
        <p:txBody>
          <a:bodyPr wrap="square" lIns="0" tIns="0" rIns="0" bIns="0" rtlCol="0" anchor="ctr"/>
          <a:lstStyle/>
          <a:p>
            <a:pPr marL="0" indent="0">
              <a:lnSpc>
                <a:spcPct val="122000"/>
              </a:lnSpc>
              <a:buNone/>
            </a:pPr>
            <a:r>
              <a:rPr lang="en-US" sz="1100" dirty="0">
                <a:solidFill>
                  <a:srgbClr val="5D6D7E"/>
                </a:solidFill>
                <a:latin typeface="Calibri" pitchFamily="34" charset="0"/>
                <a:ea typeface="Calibri" pitchFamily="34" charset="-122"/>
                <a:cs typeface="Calibri" pitchFamily="34" charset="-120"/>
              </a:rPr>
              <a:t>Desde DBeaver se puede exportar toda la base de datos a un archivo en cualquier momento. Ese archivo permite recrear la base de datos completa si algo falla.</a:t>
            </a:r>
            <a:endParaRPr lang="en-US" sz="1100" dirty="0"/>
          </a:p>
        </p:txBody>
      </p:sp>
      <p:sp>
        <p:nvSpPr>
          <p:cNvPr id="15" name="Shape 12"/>
          <p:cNvSpPr/>
          <p:nvPr/>
        </p:nvSpPr>
        <p:spPr>
          <a:xfrm>
            <a:off x="4773168" y="2432304"/>
            <a:ext cx="4023360" cy="1060704"/>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16" name="Shape 13"/>
          <p:cNvSpPr/>
          <p:nvPr/>
        </p:nvSpPr>
        <p:spPr>
          <a:xfrm>
            <a:off x="4773168" y="2432304"/>
            <a:ext cx="73152" cy="1060704"/>
          </a:xfrm>
          <a:prstGeom prst="rect">
            <a:avLst/>
          </a:prstGeom>
          <a:solidFill>
            <a:srgbClr val="1C2B4A"/>
          </a:solidFill>
          <a:ln w="12700">
            <a:solidFill>
              <a:srgbClr val="1C2B4A"/>
            </a:solidFill>
            <a:prstDash val="solid"/>
          </a:ln>
        </p:spPr>
        <p:txBody>
          <a:bodyPr/>
          <a:lstStyle/>
          <a:p>
            <a:endParaRPr lang="es-ES"/>
          </a:p>
        </p:txBody>
      </p:sp>
      <p:sp>
        <p:nvSpPr>
          <p:cNvPr id="17" name="Text 14"/>
          <p:cNvSpPr/>
          <p:nvPr/>
        </p:nvSpPr>
        <p:spPr>
          <a:xfrm>
            <a:off x="4901184" y="2523744"/>
            <a:ext cx="3822192" cy="274320"/>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Script automatico</a:t>
            </a:r>
            <a:endParaRPr lang="en-US" sz="1200" dirty="0"/>
          </a:p>
        </p:txBody>
      </p:sp>
      <p:sp>
        <p:nvSpPr>
          <p:cNvPr id="18" name="Text 15"/>
          <p:cNvSpPr/>
          <p:nvPr/>
        </p:nvSpPr>
        <p:spPr>
          <a:xfrm>
            <a:off x="4901184" y="2852928"/>
            <a:ext cx="3822192" cy="585216"/>
          </a:xfrm>
          <a:prstGeom prst="rect">
            <a:avLst/>
          </a:prstGeom>
          <a:noFill/>
          <a:ln/>
        </p:spPr>
        <p:txBody>
          <a:bodyPr wrap="square" lIns="0" tIns="0" rIns="0" bIns="0" rtlCol="0" anchor="ctr"/>
          <a:lstStyle/>
          <a:p>
            <a:pPr marL="0" indent="0">
              <a:lnSpc>
                <a:spcPct val="122000"/>
              </a:lnSpc>
              <a:buNone/>
            </a:pPr>
            <a:r>
              <a:rPr lang="en-US" sz="1100" dirty="0">
                <a:solidFill>
                  <a:srgbClr val="5D6D7E"/>
                </a:solidFill>
                <a:latin typeface="Calibri" pitchFamily="34" charset="0"/>
                <a:ea typeface="Calibri" pitchFamily="34" charset="-122"/>
                <a:cs typeface="Calibri" pitchFamily="34" charset="-120"/>
              </a:rPr>
              <a:t>Un script de Windows ejecuta el backup solo, sin que nadie tenga que hacerlo. Genera el archivo con la fecha del dia en el nombre para poder identificarlo.</a:t>
            </a:r>
            <a:endParaRPr lang="en-US" sz="1100" dirty="0"/>
          </a:p>
        </p:txBody>
      </p:sp>
      <p:sp>
        <p:nvSpPr>
          <p:cNvPr id="19" name="Shape 16"/>
          <p:cNvSpPr/>
          <p:nvPr/>
        </p:nvSpPr>
        <p:spPr>
          <a:xfrm>
            <a:off x="4773168" y="3602736"/>
            <a:ext cx="4023360" cy="1060704"/>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20" name="Shape 17"/>
          <p:cNvSpPr/>
          <p:nvPr/>
        </p:nvSpPr>
        <p:spPr>
          <a:xfrm>
            <a:off x="4773168" y="3602736"/>
            <a:ext cx="73152" cy="1060704"/>
          </a:xfrm>
          <a:prstGeom prst="rect">
            <a:avLst/>
          </a:prstGeom>
          <a:solidFill>
            <a:srgbClr val="1C2B4A"/>
          </a:solidFill>
          <a:ln w="12700">
            <a:solidFill>
              <a:srgbClr val="1C2B4A"/>
            </a:solidFill>
            <a:prstDash val="solid"/>
          </a:ln>
        </p:spPr>
        <p:txBody>
          <a:bodyPr/>
          <a:lstStyle/>
          <a:p>
            <a:endParaRPr lang="es-ES"/>
          </a:p>
        </p:txBody>
      </p:sp>
      <p:sp>
        <p:nvSpPr>
          <p:cNvPr id="21" name="Text 18"/>
          <p:cNvSpPr/>
          <p:nvPr/>
        </p:nvSpPr>
        <p:spPr>
          <a:xfrm>
            <a:off x="4901184" y="3694176"/>
            <a:ext cx="3822192" cy="274320"/>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Tarea programada</a:t>
            </a:r>
            <a:endParaRPr lang="en-US" sz="1200" dirty="0"/>
          </a:p>
        </p:txBody>
      </p:sp>
      <p:sp>
        <p:nvSpPr>
          <p:cNvPr id="22" name="Text 19"/>
          <p:cNvSpPr/>
          <p:nvPr/>
        </p:nvSpPr>
        <p:spPr>
          <a:xfrm>
            <a:off x="4901184" y="4023360"/>
            <a:ext cx="3822192" cy="585216"/>
          </a:xfrm>
          <a:prstGeom prst="rect">
            <a:avLst/>
          </a:prstGeom>
          <a:noFill/>
          <a:ln/>
        </p:spPr>
        <p:txBody>
          <a:bodyPr wrap="square" lIns="0" tIns="0" rIns="0" bIns="0" rtlCol="0" anchor="ctr"/>
          <a:lstStyle/>
          <a:p>
            <a:pPr marL="0" indent="0">
              <a:lnSpc>
                <a:spcPct val="122000"/>
              </a:lnSpc>
              <a:buNone/>
            </a:pPr>
            <a:r>
              <a:rPr lang="en-US" sz="1100" dirty="0">
                <a:solidFill>
                  <a:srgbClr val="5D6D7E"/>
                </a:solidFill>
                <a:latin typeface="Calibri" pitchFamily="34" charset="0"/>
                <a:ea typeface="Calibri" pitchFamily="34" charset="-122"/>
                <a:cs typeface="Calibri" pitchFamily="34" charset="-120"/>
              </a:rPr>
              <a:t>El script se ejecuta automaticamente cada madrugada a las 2:00 AM. Asi siempre hay una copia reciente aunque nadie lo recuerde.</a:t>
            </a:r>
            <a:endParaRPr lang="en-US" sz="1100" dirty="0"/>
          </a:p>
        </p:txBody>
      </p:sp>
      <p:pic>
        <p:nvPicPr>
          <p:cNvPr id="23" name="Image 1" descr="/tmp/p_schtasks.png"/>
          <p:cNvPicPr>
            <a:picLocks noChangeAspect="1"/>
          </p:cNvPicPr>
          <p:nvPr/>
        </p:nvPicPr>
        <p:blipFill>
          <a:blip r:embed="rId4"/>
          <a:stretch>
            <a:fillRect/>
          </a:stretch>
        </p:blipFill>
        <p:spPr>
          <a:xfrm>
            <a:off x="6095129" y="4754880"/>
            <a:ext cx="1379438" cy="2011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C2B4A"/>
          </a:solidFill>
          <a:ln w="12700">
            <a:solidFill>
              <a:srgbClr val="1C2B4A"/>
            </a:solidFill>
            <a:prstDash val="solid"/>
          </a:ln>
        </p:spPr>
        <p:txBody>
          <a:bodyPr/>
          <a:lstStyle/>
          <a:p>
            <a:endParaRPr lang="es-ES"/>
          </a:p>
        </p:txBody>
      </p:sp>
      <p:sp>
        <p:nvSpPr>
          <p:cNvPr id="3" name="Text 1"/>
          <p:cNvSpPr/>
          <p:nvPr/>
        </p:nvSpPr>
        <p:spPr>
          <a:xfrm>
            <a:off x="347472" y="36576"/>
            <a:ext cx="8595360" cy="201168"/>
          </a:xfrm>
          <a:prstGeom prst="rect">
            <a:avLst/>
          </a:prstGeom>
          <a:noFill/>
          <a:ln/>
        </p:spPr>
        <p:txBody>
          <a:bodyPr wrap="square" lIns="0" tIns="0" rIns="0" bIns="0" rtlCol="0" anchor="ctr"/>
          <a:lstStyle/>
          <a:p>
            <a:pPr marL="0" indent="0">
              <a:buNone/>
            </a:pPr>
            <a:r>
              <a:rPr lang="en-US" sz="900" b="1" kern="0" spc="300" dirty="0">
                <a:solidFill>
                  <a:srgbClr val="B03A2E"/>
                </a:solidFill>
                <a:latin typeface="Calibri" pitchFamily="34" charset="0"/>
                <a:ea typeface="Calibri" pitchFamily="34" charset="-122"/>
                <a:cs typeface="Calibri" pitchFamily="34" charset="-120"/>
              </a:rPr>
              <a:t>ENTORNOS DE DESARROLLO</a:t>
            </a:r>
            <a:endParaRPr lang="en-US" sz="900" dirty="0"/>
          </a:p>
        </p:txBody>
      </p:sp>
      <p:sp>
        <p:nvSpPr>
          <p:cNvPr id="4" name="Text 2"/>
          <p:cNvSpPr/>
          <p:nvPr/>
        </p:nvSpPr>
        <p:spPr>
          <a:xfrm>
            <a:off x="347472" y="164592"/>
            <a:ext cx="8595360" cy="566928"/>
          </a:xfrm>
          <a:prstGeom prst="rect">
            <a:avLst/>
          </a:prstGeom>
          <a:noFill/>
          <a:ln/>
        </p:spPr>
        <p:txBody>
          <a:bodyPr wrap="square" lIns="0" tIns="0" rIns="0" bIns="0" rtlCol="0" anchor="ctr"/>
          <a:lstStyle/>
          <a:p>
            <a:pPr marL="0" indent="0" algn="l">
              <a:buNone/>
            </a:pPr>
            <a:r>
              <a:rPr lang="en-US" sz="2700" b="1" dirty="0">
                <a:solidFill>
                  <a:srgbClr val="1C2B4A"/>
                </a:solidFill>
                <a:latin typeface="Calibri" pitchFamily="34" charset="0"/>
                <a:ea typeface="Calibri" pitchFamily="34" charset="-122"/>
                <a:cs typeface="Calibri" pitchFamily="34" charset="-120"/>
              </a:rPr>
              <a:t>Control de versiones con Git y GitHub</a:t>
            </a:r>
            <a:endParaRPr lang="en-US" sz="2700" dirty="0"/>
          </a:p>
        </p:txBody>
      </p:sp>
      <p:sp>
        <p:nvSpPr>
          <p:cNvPr id="5" name="Shape 3"/>
          <p:cNvSpPr/>
          <p:nvPr/>
        </p:nvSpPr>
        <p:spPr>
          <a:xfrm>
            <a:off x="347472" y="768096"/>
            <a:ext cx="8449056" cy="0"/>
          </a:xfrm>
          <a:prstGeom prst="line">
            <a:avLst/>
          </a:prstGeom>
          <a:noFill/>
          <a:ln w="8890">
            <a:solidFill>
              <a:srgbClr val="AEB6BF"/>
            </a:solidFill>
            <a:prstDash val="solid"/>
          </a:ln>
        </p:spPr>
        <p:txBody>
          <a:bodyPr/>
          <a:lstStyle/>
          <a:p>
            <a:endParaRPr lang="es-ES"/>
          </a:p>
        </p:txBody>
      </p:sp>
      <p:sp>
        <p:nvSpPr>
          <p:cNvPr id="6" name="Text 4"/>
          <p:cNvSpPr/>
          <p:nvPr/>
        </p:nvSpPr>
        <p:spPr>
          <a:xfrm>
            <a:off x="347472" y="932688"/>
            <a:ext cx="4206240" cy="1005840"/>
          </a:xfrm>
          <a:prstGeom prst="rect">
            <a:avLst/>
          </a:prstGeom>
          <a:noFill/>
          <a:ln/>
        </p:spPr>
        <p:txBody>
          <a:bodyPr wrap="square" lIns="0" tIns="0" rIns="0" bIns="0" rtlCol="0" anchor="t"/>
          <a:lstStyle/>
          <a:p>
            <a:pPr marL="0" indent="0" algn="l">
              <a:lnSpc>
                <a:spcPct val="132000"/>
              </a:lnSpc>
              <a:buNone/>
            </a:pPr>
            <a:r>
              <a:rPr lang="en-US" sz="1250" dirty="0">
                <a:solidFill>
                  <a:srgbClr val="2C3E50"/>
                </a:solidFill>
                <a:latin typeface="Calibri" pitchFamily="34" charset="0"/>
                <a:ea typeface="Calibri" pitchFamily="34" charset="-122"/>
                <a:cs typeface="Calibri" pitchFamily="34" charset="-120"/>
              </a:rPr>
              <a:t>Git registra todos los cambios en el codigo como un historial completo. Permite ver que se cambio y cuando, y volver a versiones anteriores. GitHub guarda ese historial en la nube.</a:t>
            </a:r>
            <a:endParaRPr lang="en-US" sz="1250" dirty="0"/>
          </a:p>
        </p:txBody>
      </p:sp>
      <p:sp>
        <p:nvSpPr>
          <p:cNvPr id="7" name="Text 5"/>
          <p:cNvSpPr/>
          <p:nvPr/>
        </p:nvSpPr>
        <p:spPr>
          <a:xfrm>
            <a:off x="347472" y="2011680"/>
            <a:ext cx="4206240" cy="256032"/>
          </a:xfrm>
          <a:prstGeom prst="rect">
            <a:avLst/>
          </a:prstGeom>
          <a:noFill/>
          <a:ln/>
        </p:spPr>
        <p:txBody>
          <a:bodyPr wrap="square" lIns="0" tIns="0" rIns="0" bIns="0" rtlCol="0" anchor="ctr"/>
          <a:lstStyle/>
          <a:p>
            <a:pPr marL="0" indent="0">
              <a:buNone/>
            </a:pPr>
            <a:r>
              <a:rPr lang="en-US" sz="1300" b="1" dirty="0">
                <a:solidFill>
                  <a:srgbClr val="1C2B4A"/>
                </a:solidFill>
                <a:latin typeface="Calibri" pitchFamily="34" charset="0"/>
                <a:ea typeface="Calibri" pitchFamily="34" charset="-122"/>
                <a:cs typeface="Calibri" pitchFamily="34" charset="-120"/>
              </a:rPr>
              <a:t>Organizacion del repositorio</a:t>
            </a:r>
            <a:endParaRPr lang="en-US" sz="1300" dirty="0"/>
          </a:p>
        </p:txBody>
      </p:sp>
      <p:sp>
        <p:nvSpPr>
          <p:cNvPr id="8" name="Shape 6"/>
          <p:cNvSpPr/>
          <p:nvPr/>
        </p:nvSpPr>
        <p:spPr>
          <a:xfrm>
            <a:off x="347472" y="2386584"/>
            <a:ext cx="109728" cy="109728"/>
          </a:xfrm>
          <a:prstGeom prst="rect">
            <a:avLst/>
          </a:prstGeom>
          <a:solidFill>
            <a:srgbClr val="B03A2E"/>
          </a:solidFill>
          <a:ln w="12700">
            <a:solidFill>
              <a:srgbClr val="B03A2E"/>
            </a:solidFill>
            <a:prstDash val="solid"/>
          </a:ln>
        </p:spPr>
        <p:txBody>
          <a:bodyPr/>
          <a:lstStyle/>
          <a:p>
            <a:endParaRPr lang="es-ES"/>
          </a:p>
        </p:txBody>
      </p:sp>
      <p:sp>
        <p:nvSpPr>
          <p:cNvPr id="9" name="Text 7"/>
          <p:cNvSpPr/>
          <p:nvPr/>
        </p:nvSpPr>
        <p:spPr>
          <a:xfrm>
            <a:off x="530352" y="2322576"/>
            <a:ext cx="1645920" cy="237744"/>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backend/</a:t>
            </a:r>
            <a:endParaRPr lang="en-US" sz="1200" dirty="0"/>
          </a:p>
        </p:txBody>
      </p:sp>
      <p:sp>
        <p:nvSpPr>
          <p:cNvPr id="10" name="Text 8"/>
          <p:cNvSpPr/>
          <p:nvPr/>
        </p:nvSpPr>
        <p:spPr>
          <a:xfrm>
            <a:off x="530352" y="2560320"/>
            <a:ext cx="3931920" cy="164592"/>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Todo el codigo del servidor Java</a:t>
            </a:r>
            <a:endParaRPr lang="en-US" sz="1100" dirty="0"/>
          </a:p>
        </p:txBody>
      </p:sp>
      <p:sp>
        <p:nvSpPr>
          <p:cNvPr id="11" name="Shape 9"/>
          <p:cNvSpPr/>
          <p:nvPr/>
        </p:nvSpPr>
        <p:spPr>
          <a:xfrm>
            <a:off x="347472" y="2807208"/>
            <a:ext cx="109728" cy="109728"/>
          </a:xfrm>
          <a:prstGeom prst="rect">
            <a:avLst/>
          </a:prstGeom>
          <a:solidFill>
            <a:srgbClr val="B03A2E"/>
          </a:solidFill>
          <a:ln w="12700">
            <a:solidFill>
              <a:srgbClr val="B03A2E"/>
            </a:solidFill>
            <a:prstDash val="solid"/>
          </a:ln>
        </p:spPr>
        <p:txBody>
          <a:bodyPr/>
          <a:lstStyle/>
          <a:p>
            <a:endParaRPr lang="es-ES"/>
          </a:p>
        </p:txBody>
      </p:sp>
      <p:sp>
        <p:nvSpPr>
          <p:cNvPr id="12" name="Text 10"/>
          <p:cNvSpPr/>
          <p:nvPr/>
        </p:nvSpPr>
        <p:spPr>
          <a:xfrm>
            <a:off x="530352" y="2743200"/>
            <a:ext cx="1645920" cy="237744"/>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database/</a:t>
            </a:r>
            <a:endParaRPr lang="en-US" sz="1200" dirty="0"/>
          </a:p>
        </p:txBody>
      </p:sp>
      <p:sp>
        <p:nvSpPr>
          <p:cNvPr id="13" name="Text 11"/>
          <p:cNvSpPr/>
          <p:nvPr/>
        </p:nvSpPr>
        <p:spPr>
          <a:xfrm>
            <a:off x="530352" y="2980944"/>
            <a:ext cx="3931920" cy="164592"/>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Los scripts que crean la base de datos</a:t>
            </a:r>
            <a:endParaRPr lang="en-US" sz="1100" dirty="0"/>
          </a:p>
        </p:txBody>
      </p:sp>
      <p:sp>
        <p:nvSpPr>
          <p:cNvPr id="14" name="Shape 12"/>
          <p:cNvSpPr/>
          <p:nvPr/>
        </p:nvSpPr>
        <p:spPr>
          <a:xfrm>
            <a:off x="347472" y="3227832"/>
            <a:ext cx="109728" cy="109728"/>
          </a:xfrm>
          <a:prstGeom prst="rect">
            <a:avLst/>
          </a:prstGeom>
          <a:solidFill>
            <a:srgbClr val="B03A2E"/>
          </a:solidFill>
          <a:ln w="12700">
            <a:solidFill>
              <a:srgbClr val="B03A2E"/>
            </a:solidFill>
            <a:prstDash val="solid"/>
          </a:ln>
        </p:spPr>
        <p:txBody>
          <a:bodyPr/>
          <a:lstStyle/>
          <a:p>
            <a:endParaRPr lang="es-ES"/>
          </a:p>
        </p:txBody>
      </p:sp>
      <p:sp>
        <p:nvSpPr>
          <p:cNvPr id="15" name="Text 13"/>
          <p:cNvSpPr/>
          <p:nvPr/>
        </p:nvSpPr>
        <p:spPr>
          <a:xfrm>
            <a:off x="530352" y="3163824"/>
            <a:ext cx="1645920" cy="237744"/>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frontend/</a:t>
            </a:r>
            <a:endParaRPr lang="en-US" sz="1200" dirty="0"/>
          </a:p>
        </p:txBody>
      </p:sp>
      <p:sp>
        <p:nvSpPr>
          <p:cNvPr id="16" name="Text 14"/>
          <p:cNvSpPr/>
          <p:nvPr/>
        </p:nvSpPr>
        <p:spPr>
          <a:xfrm>
            <a:off x="530352" y="3401568"/>
            <a:ext cx="3931920" cy="164592"/>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Las paginas web, los estilos y el JavaScript</a:t>
            </a:r>
            <a:endParaRPr lang="en-US" sz="1100" dirty="0"/>
          </a:p>
        </p:txBody>
      </p:sp>
      <p:sp>
        <p:nvSpPr>
          <p:cNvPr id="17" name="Shape 15"/>
          <p:cNvSpPr/>
          <p:nvPr/>
        </p:nvSpPr>
        <p:spPr>
          <a:xfrm>
            <a:off x="347472" y="3648456"/>
            <a:ext cx="109728" cy="109728"/>
          </a:xfrm>
          <a:prstGeom prst="rect">
            <a:avLst/>
          </a:prstGeom>
          <a:solidFill>
            <a:srgbClr val="B03A2E"/>
          </a:solidFill>
          <a:ln w="12700">
            <a:solidFill>
              <a:srgbClr val="B03A2E"/>
            </a:solidFill>
            <a:prstDash val="solid"/>
          </a:ln>
        </p:spPr>
        <p:txBody>
          <a:bodyPr/>
          <a:lstStyle/>
          <a:p>
            <a:endParaRPr lang="es-ES"/>
          </a:p>
        </p:txBody>
      </p:sp>
      <p:sp>
        <p:nvSpPr>
          <p:cNvPr id="18" name="Text 16"/>
          <p:cNvSpPr/>
          <p:nvPr/>
        </p:nvSpPr>
        <p:spPr>
          <a:xfrm>
            <a:off x="530352" y="3584448"/>
            <a:ext cx="1645920" cy="237744"/>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scripts/</a:t>
            </a:r>
            <a:endParaRPr lang="en-US" sz="1200" dirty="0"/>
          </a:p>
        </p:txBody>
      </p:sp>
      <p:sp>
        <p:nvSpPr>
          <p:cNvPr id="19" name="Text 17"/>
          <p:cNvSpPr/>
          <p:nvPr/>
        </p:nvSpPr>
        <p:spPr>
          <a:xfrm>
            <a:off x="530352" y="3822192"/>
            <a:ext cx="3931920" cy="164592"/>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Los scripts de backup del sistema</a:t>
            </a:r>
            <a:endParaRPr lang="en-US" sz="1100" dirty="0"/>
          </a:p>
        </p:txBody>
      </p:sp>
      <p:sp>
        <p:nvSpPr>
          <p:cNvPr id="20" name="Shape 18"/>
          <p:cNvSpPr/>
          <p:nvPr/>
        </p:nvSpPr>
        <p:spPr>
          <a:xfrm>
            <a:off x="347472" y="4069080"/>
            <a:ext cx="109728" cy="109728"/>
          </a:xfrm>
          <a:prstGeom prst="rect">
            <a:avLst/>
          </a:prstGeom>
          <a:solidFill>
            <a:srgbClr val="B03A2E"/>
          </a:solidFill>
          <a:ln w="12700">
            <a:solidFill>
              <a:srgbClr val="B03A2E"/>
            </a:solidFill>
            <a:prstDash val="solid"/>
          </a:ln>
        </p:spPr>
        <p:txBody>
          <a:bodyPr/>
          <a:lstStyle/>
          <a:p>
            <a:endParaRPr lang="es-ES"/>
          </a:p>
        </p:txBody>
      </p:sp>
      <p:sp>
        <p:nvSpPr>
          <p:cNvPr id="21" name="Text 19"/>
          <p:cNvSpPr/>
          <p:nvPr/>
        </p:nvSpPr>
        <p:spPr>
          <a:xfrm>
            <a:off x="530352" y="4005072"/>
            <a:ext cx="1645920" cy="237744"/>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README.md</a:t>
            </a:r>
            <a:endParaRPr lang="en-US" sz="1200" dirty="0"/>
          </a:p>
        </p:txBody>
      </p:sp>
      <p:sp>
        <p:nvSpPr>
          <p:cNvPr id="22" name="Text 20"/>
          <p:cNvSpPr/>
          <p:nvPr/>
        </p:nvSpPr>
        <p:spPr>
          <a:xfrm>
            <a:off x="530352" y="4242816"/>
            <a:ext cx="3931920" cy="164592"/>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Explicacion del proyecto e instrucciones</a:t>
            </a:r>
            <a:endParaRPr lang="en-US" sz="1100" dirty="0"/>
          </a:p>
        </p:txBody>
      </p:sp>
      <p:pic>
        <p:nvPicPr>
          <p:cNvPr id="23" name="Image 0" descr="/tmp/p_cap_32_estructura_vscode.png"/>
          <p:cNvPicPr>
            <a:picLocks noChangeAspect="1"/>
          </p:cNvPicPr>
          <p:nvPr/>
        </p:nvPicPr>
        <p:blipFill>
          <a:blip r:embed="rId3"/>
          <a:stretch>
            <a:fillRect/>
          </a:stretch>
        </p:blipFill>
        <p:spPr>
          <a:xfrm>
            <a:off x="3045304" y="3649863"/>
            <a:ext cx="1508408" cy="1199184"/>
          </a:xfrm>
          <a:prstGeom prst="rect">
            <a:avLst/>
          </a:prstGeom>
        </p:spPr>
      </p:pic>
      <p:sp>
        <p:nvSpPr>
          <p:cNvPr id="24" name="Text 21"/>
          <p:cNvSpPr/>
          <p:nvPr/>
        </p:nvSpPr>
        <p:spPr>
          <a:xfrm>
            <a:off x="4773168" y="932688"/>
            <a:ext cx="4023360" cy="256032"/>
          </a:xfrm>
          <a:prstGeom prst="rect">
            <a:avLst/>
          </a:prstGeom>
          <a:noFill/>
          <a:ln/>
        </p:spPr>
        <p:txBody>
          <a:bodyPr wrap="square" lIns="0" tIns="0" rIns="0" bIns="0" rtlCol="0" anchor="ctr"/>
          <a:lstStyle/>
          <a:p>
            <a:pPr marL="0" indent="0">
              <a:buNone/>
            </a:pPr>
            <a:r>
              <a:rPr lang="en-US" sz="1300" b="1" dirty="0">
                <a:solidFill>
                  <a:srgbClr val="B03A2E"/>
                </a:solidFill>
                <a:latin typeface="Calibri" pitchFamily="34" charset="0"/>
                <a:ea typeface="Calibri" pitchFamily="34" charset="-122"/>
                <a:cs typeface="Calibri" pitchFamily="34" charset="-120"/>
              </a:rPr>
              <a:t>El problema con GitHub Desktop</a:t>
            </a:r>
            <a:endParaRPr lang="en-US" sz="1300" dirty="0"/>
          </a:p>
        </p:txBody>
      </p:sp>
      <p:sp>
        <p:nvSpPr>
          <p:cNvPr id="25" name="Text 22"/>
          <p:cNvSpPr/>
          <p:nvPr/>
        </p:nvSpPr>
        <p:spPr>
          <a:xfrm>
            <a:off x="4773168" y="1243584"/>
            <a:ext cx="4023360" cy="1078992"/>
          </a:xfrm>
          <a:prstGeom prst="rect">
            <a:avLst/>
          </a:prstGeom>
          <a:noFill/>
          <a:ln/>
        </p:spPr>
        <p:txBody>
          <a:bodyPr wrap="square" lIns="0" tIns="0" rIns="0" bIns="0" rtlCol="0" anchor="t"/>
          <a:lstStyle/>
          <a:p>
            <a:pPr marL="0" indent="0" algn="l">
              <a:lnSpc>
                <a:spcPct val="132000"/>
              </a:lnSpc>
              <a:buNone/>
            </a:pPr>
            <a:r>
              <a:rPr lang="en-US" sz="1300" dirty="0">
                <a:solidFill>
                  <a:srgbClr val="2C3E50"/>
                </a:solidFill>
                <a:latin typeface="Calibri" pitchFamily="34" charset="0"/>
                <a:ea typeface="Calibri" pitchFamily="34" charset="-122"/>
                <a:cs typeface="Calibri" pitchFamily="34" charset="-120"/>
              </a:rPr>
              <a:t>GitHub Desktop es una aplicacion que facilita subir el codigo a GitHub sin usar comandos. Pero en este proyecto mostraba un error: no encontraba la carpeta del repositorio en el ordenador y no dejaba hacer ninguna operacion.</a:t>
            </a:r>
            <a:endParaRPr lang="en-US" sz="1300" dirty="0"/>
          </a:p>
        </p:txBody>
      </p:sp>
      <p:pic>
        <p:nvPicPr>
          <p:cNvPr id="26" name="Image 1" descr="/tmp/p_cap_44_github_error.png"/>
          <p:cNvPicPr>
            <a:picLocks noChangeAspect="1"/>
          </p:cNvPicPr>
          <p:nvPr/>
        </p:nvPicPr>
        <p:blipFill>
          <a:blip r:embed="rId4"/>
          <a:stretch>
            <a:fillRect/>
          </a:stretch>
        </p:blipFill>
        <p:spPr>
          <a:xfrm>
            <a:off x="5334935" y="2377440"/>
            <a:ext cx="2899826" cy="1481328"/>
          </a:xfrm>
          <a:prstGeom prst="rect">
            <a:avLst/>
          </a:prstGeom>
        </p:spPr>
      </p:pic>
      <p:sp>
        <p:nvSpPr>
          <p:cNvPr id="27" name="Shape 23"/>
          <p:cNvSpPr/>
          <p:nvPr/>
        </p:nvSpPr>
        <p:spPr>
          <a:xfrm>
            <a:off x="4773168" y="3931920"/>
            <a:ext cx="4023360" cy="932688"/>
          </a:xfrm>
          <a:prstGeom prst="rect">
            <a:avLst/>
          </a:prstGeom>
          <a:solidFill>
            <a:srgbClr val="1A7A4A"/>
          </a:solidFill>
          <a:ln w="12700">
            <a:solidFill>
              <a:srgbClr val="1A7A4A"/>
            </a:solidFill>
            <a:prstDash val="solid"/>
          </a:ln>
        </p:spPr>
        <p:txBody>
          <a:bodyPr/>
          <a:lstStyle/>
          <a:p>
            <a:endParaRPr lang="es-ES"/>
          </a:p>
        </p:txBody>
      </p:sp>
      <p:sp>
        <p:nvSpPr>
          <p:cNvPr id="28" name="Text 24"/>
          <p:cNvSpPr/>
          <p:nvPr/>
        </p:nvSpPr>
        <p:spPr>
          <a:xfrm>
            <a:off x="4864608" y="3968496"/>
            <a:ext cx="3840480" cy="822960"/>
          </a:xfrm>
          <a:prstGeom prst="rect">
            <a:avLst/>
          </a:prstGeom>
          <a:noFill/>
          <a:ln/>
        </p:spPr>
        <p:txBody>
          <a:bodyPr wrap="square" lIns="0" tIns="0" rIns="0" bIns="0" rtlCol="0" anchor="ctr"/>
          <a:lstStyle/>
          <a:p>
            <a:pPr marL="0" indent="0">
              <a:lnSpc>
                <a:spcPct val="125000"/>
              </a:lnSpc>
              <a:buNone/>
            </a:pPr>
            <a:r>
              <a:rPr lang="en-US" sz="1200" b="1" dirty="0">
                <a:solidFill>
                  <a:srgbClr val="FFFFFF"/>
                </a:solidFill>
                <a:latin typeface="Calibri" pitchFamily="34" charset="0"/>
                <a:ea typeface="Calibri" pitchFamily="34" charset="-122"/>
                <a:cs typeface="Calibri" pitchFamily="34" charset="-120"/>
              </a:rPr>
              <a:t>Como se soluciono:
</a:t>
            </a:r>
            <a:r>
              <a:rPr lang="en-US" sz="1100" dirty="0">
                <a:solidFill>
                  <a:srgbClr val="D5F5E3"/>
                </a:solidFill>
                <a:latin typeface="Calibri" pitchFamily="34" charset="0"/>
                <a:ea typeface="Calibri" pitchFamily="34" charset="-122"/>
                <a:cs typeface="Calibri" pitchFamily="34" charset="-120"/>
              </a:rPr>
              <a:t>Se subieron los archivos directamente desde la pagina web de GitHub. Esta opcion permite cargar archivos a cualquier carpeta del repositorio sin necesitar la aplicacion de escritorio.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C2B4A"/>
          </a:solidFill>
          <a:ln w="12700">
            <a:solidFill>
              <a:srgbClr val="1C2B4A"/>
            </a:solidFill>
            <a:prstDash val="solid"/>
          </a:ln>
        </p:spPr>
        <p:txBody>
          <a:bodyPr/>
          <a:lstStyle/>
          <a:p>
            <a:endParaRPr lang="es-ES"/>
          </a:p>
        </p:txBody>
      </p:sp>
      <p:sp>
        <p:nvSpPr>
          <p:cNvPr id="3" name="Text 1"/>
          <p:cNvSpPr/>
          <p:nvPr/>
        </p:nvSpPr>
        <p:spPr>
          <a:xfrm>
            <a:off x="347472" y="36576"/>
            <a:ext cx="8595360" cy="201168"/>
          </a:xfrm>
          <a:prstGeom prst="rect">
            <a:avLst/>
          </a:prstGeom>
          <a:noFill/>
          <a:ln/>
        </p:spPr>
        <p:txBody>
          <a:bodyPr wrap="square" lIns="0" tIns="0" rIns="0" bIns="0" rtlCol="0" anchor="ctr"/>
          <a:lstStyle/>
          <a:p>
            <a:pPr marL="0" indent="0">
              <a:buNone/>
            </a:pPr>
            <a:r>
              <a:rPr lang="en-US" sz="900" b="1" kern="0" spc="300" dirty="0">
                <a:solidFill>
                  <a:srgbClr val="B03A2E"/>
                </a:solidFill>
                <a:latin typeface="Calibri" pitchFamily="34" charset="0"/>
                <a:ea typeface="Calibri" pitchFamily="34" charset="-122"/>
                <a:cs typeface="Calibri" pitchFamily="34" charset="-120"/>
              </a:rPr>
              <a:t>PROCESO DE DESARROLLO</a:t>
            </a:r>
            <a:endParaRPr lang="en-US" sz="900" dirty="0"/>
          </a:p>
        </p:txBody>
      </p:sp>
      <p:sp>
        <p:nvSpPr>
          <p:cNvPr id="4" name="Text 2"/>
          <p:cNvSpPr/>
          <p:nvPr/>
        </p:nvSpPr>
        <p:spPr>
          <a:xfrm>
            <a:off x="347472" y="164592"/>
            <a:ext cx="8595360" cy="566928"/>
          </a:xfrm>
          <a:prstGeom prst="rect">
            <a:avLst/>
          </a:prstGeom>
          <a:noFill/>
          <a:ln/>
        </p:spPr>
        <p:txBody>
          <a:bodyPr wrap="square" lIns="0" tIns="0" rIns="0" bIns="0" rtlCol="0" anchor="ctr"/>
          <a:lstStyle/>
          <a:p>
            <a:pPr marL="0" indent="0" algn="l">
              <a:buNone/>
            </a:pPr>
            <a:r>
              <a:rPr lang="en-US" sz="2700" b="1" dirty="0">
                <a:solidFill>
                  <a:srgbClr val="1C2B4A"/>
                </a:solidFill>
                <a:latin typeface="Calibri" pitchFamily="34" charset="0"/>
                <a:ea typeface="Calibri" pitchFamily="34" charset="-122"/>
                <a:cs typeface="Calibri" pitchFamily="34" charset="-120"/>
              </a:rPr>
              <a:t>Dificultades encontradas y como se resolvieron</a:t>
            </a:r>
            <a:endParaRPr lang="en-US" sz="2700" dirty="0"/>
          </a:p>
        </p:txBody>
      </p:sp>
      <p:sp>
        <p:nvSpPr>
          <p:cNvPr id="5" name="Shape 3"/>
          <p:cNvSpPr/>
          <p:nvPr/>
        </p:nvSpPr>
        <p:spPr>
          <a:xfrm>
            <a:off x="347472" y="768096"/>
            <a:ext cx="8449056" cy="0"/>
          </a:xfrm>
          <a:prstGeom prst="line">
            <a:avLst/>
          </a:prstGeom>
          <a:noFill/>
          <a:ln w="8890">
            <a:solidFill>
              <a:srgbClr val="AEB6BF"/>
            </a:solidFill>
            <a:prstDash val="solid"/>
          </a:ln>
        </p:spPr>
        <p:txBody>
          <a:bodyPr/>
          <a:lstStyle/>
          <a:p>
            <a:endParaRPr lang="es-ES"/>
          </a:p>
        </p:txBody>
      </p:sp>
      <p:sp>
        <p:nvSpPr>
          <p:cNvPr id="6" name="Shape 4"/>
          <p:cNvSpPr/>
          <p:nvPr/>
        </p:nvSpPr>
        <p:spPr>
          <a:xfrm>
            <a:off x="347472" y="932688"/>
            <a:ext cx="4187952" cy="896112"/>
          </a:xfrm>
          <a:prstGeom prst="rect">
            <a:avLst/>
          </a:prstGeom>
          <a:solidFill>
            <a:srgbClr val="FEF2F2"/>
          </a:solidFill>
          <a:ln w="7620">
            <a:solidFill>
              <a:srgbClr val="F1948A"/>
            </a:solidFill>
            <a:prstDash val="solid"/>
          </a:ln>
        </p:spPr>
        <p:txBody>
          <a:bodyPr/>
          <a:lstStyle/>
          <a:p>
            <a:endParaRPr lang="es-ES"/>
          </a:p>
        </p:txBody>
      </p:sp>
      <p:sp>
        <p:nvSpPr>
          <p:cNvPr id="7" name="Shape 5"/>
          <p:cNvSpPr/>
          <p:nvPr/>
        </p:nvSpPr>
        <p:spPr>
          <a:xfrm>
            <a:off x="347472" y="932688"/>
            <a:ext cx="73152" cy="896112"/>
          </a:xfrm>
          <a:prstGeom prst="rect">
            <a:avLst/>
          </a:prstGeom>
          <a:solidFill>
            <a:srgbClr val="B03A2E"/>
          </a:solidFill>
          <a:ln w="12700">
            <a:solidFill>
              <a:srgbClr val="B03A2E"/>
            </a:solidFill>
            <a:prstDash val="solid"/>
          </a:ln>
        </p:spPr>
        <p:txBody>
          <a:bodyPr/>
          <a:lstStyle/>
          <a:p>
            <a:endParaRPr lang="es-ES"/>
          </a:p>
        </p:txBody>
      </p:sp>
      <p:sp>
        <p:nvSpPr>
          <p:cNvPr id="8" name="Text 6"/>
          <p:cNvSpPr/>
          <p:nvPr/>
        </p:nvSpPr>
        <p:spPr>
          <a:xfrm>
            <a:off x="475488" y="978408"/>
            <a:ext cx="3986784" cy="274320"/>
          </a:xfrm>
          <a:prstGeom prst="rect">
            <a:avLst/>
          </a:prstGeom>
          <a:noFill/>
          <a:ln/>
        </p:spPr>
        <p:txBody>
          <a:bodyPr wrap="square" lIns="0" tIns="0" rIns="0" bIns="0" rtlCol="0" anchor="ctr"/>
          <a:lstStyle/>
          <a:p>
            <a:pPr marL="0" indent="0">
              <a:buNone/>
            </a:pPr>
            <a:r>
              <a:rPr lang="en-US" sz="1200" b="1" dirty="0">
                <a:solidFill>
                  <a:srgbClr val="B03A2E"/>
                </a:solidFill>
                <a:latin typeface="Calibri" pitchFamily="34" charset="0"/>
                <a:ea typeface="Calibri" pitchFamily="34" charset="-122"/>
                <a:cs typeface="Calibri" pitchFamily="34" charset="-120"/>
              </a:rPr>
              <a:t>Se perdio la maquina virtual con la base de datos</a:t>
            </a:r>
            <a:endParaRPr lang="en-US" sz="1200" dirty="0"/>
          </a:p>
        </p:txBody>
      </p:sp>
      <p:sp>
        <p:nvSpPr>
          <p:cNvPr id="9" name="Text 7"/>
          <p:cNvSpPr/>
          <p:nvPr/>
        </p:nvSpPr>
        <p:spPr>
          <a:xfrm>
            <a:off x="475488" y="1298448"/>
            <a:ext cx="3986784" cy="475488"/>
          </a:xfrm>
          <a:prstGeom prst="rect">
            <a:avLst/>
          </a:prstGeom>
          <a:noFill/>
          <a:ln/>
        </p:spPr>
        <p:txBody>
          <a:bodyPr wrap="square" lIns="0" tIns="0" rIns="0" bIns="0" rtlCol="0" anchor="ctr"/>
          <a:lstStyle/>
          <a:p>
            <a:pPr marL="0" indent="0">
              <a:lnSpc>
                <a:spcPct val="120000"/>
              </a:lnSpc>
              <a:buNone/>
            </a:pPr>
            <a:r>
              <a:rPr lang="en-US" sz="1100" dirty="0">
                <a:solidFill>
                  <a:srgbClr val="5D4037"/>
                </a:solidFill>
                <a:latin typeface="Calibri" pitchFamily="34" charset="0"/>
                <a:ea typeface="Calibri" pitchFamily="34" charset="-122"/>
                <a:cs typeface="Calibri" pitchFamily="34" charset="-120"/>
              </a:rPr>
              <a:t>El entorno donde estaba configurada la base de datos desaparecio accidentalmente y habia que reconstruirlo.</a:t>
            </a:r>
            <a:endParaRPr lang="en-US" sz="1100" dirty="0"/>
          </a:p>
        </p:txBody>
      </p:sp>
      <p:sp>
        <p:nvSpPr>
          <p:cNvPr id="10" name="Text 8"/>
          <p:cNvSpPr/>
          <p:nvPr/>
        </p:nvSpPr>
        <p:spPr>
          <a:xfrm>
            <a:off x="4553712" y="1225296"/>
            <a:ext cx="329184" cy="329184"/>
          </a:xfrm>
          <a:prstGeom prst="rect">
            <a:avLst/>
          </a:prstGeom>
          <a:noFill/>
          <a:ln/>
        </p:spPr>
        <p:txBody>
          <a:bodyPr wrap="square" lIns="0" tIns="0" rIns="0" bIns="0" rtlCol="0" anchor="ctr"/>
          <a:lstStyle/>
          <a:p>
            <a:pPr marL="0" indent="0" algn="ctr">
              <a:buNone/>
            </a:pPr>
            <a:r>
              <a:rPr lang="en-US" sz="2000" dirty="0">
                <a:solidFill>
                  <a:srgbClr val="AEB6BF"/>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901184" y="932688"/>
            <a:ext cx="3895344" cy="896112"/>
          </a:xfrm>
          <a:prstGeom prst="rect">
            <a:avLst/>
          </a:prstGeom>
          <a:solidFill>
            <a:srgbClr val="F0FDF4"/>
          </a:solidFill>
          <a:ln w="7620">
            <a:solidFill>
              <a:srgbClr val="82E0AA"/>
            </a:solidFill>
            <a:prstDash val="solid"/>
          </a:ln>
        </p:spPr>
        <p:txBody>
          <a:bodyPr/>
          <a:lstStyle/>
          <a:p>
            <a:endParaRPr lang="es-ES"/>
          </a:p>
        </p:txBody>
      </p:sp>
      <p:sp>
        <p:nvSpPr>
          <p:cNvPr id="12" name="Shape 10"/>
          <p:cNvSpPr/>
          <p:nvPr/>
        </p:nvSpPr>
        <p:spPr>
          <a:xfrm>
            <a:off x="4901184" y="932688"/>
            <a:ext cx="73152" cy="896112"/>
          </a:xfrm>
          <a:prstGeom prst="rect">
            <a:avLst/>
          </a:prstGeom>
          <a:solidFill>
            <a:srgbClr val="1A7A4A"/>
          </a:solidFill>
          <a:ln w="12700">
            <a:solidFill>
              <a:srgbClr val="1A7A4A"/>
            </a:solidFill>
            <a:prstDash val="solid"/>
          </a:ln>
        </p:spPr>
        <p:txBody>
          <a:bodyPr/>
          <a:lstStyle/>
          <a:p>
            <a:endParaRPr lang="es-ES"/>
          </a:p>
        </p:txBody>
      </p:sp>
      <p:sp>
        <p:nvSpPr>
          <p:cNvPr id="13" name="Text 11"/>
          <p:cNvSpPr/>
          <p:nvPr/>
        </p:nvSpPr>
        <p:spPr>
          <a:xfrm>
            <a:off x="5029200" y="978408"/>
            <a:ext cx="3657600" cy="256032"/>
          </a:xfrm>
          <a:prstGeom prst="rect">
            <a:avLst/>
          </a:prstGeom>
          <a:noFill/>
          <a:ln/>
        </p:spPr>
        <p:txBody>
          <a:bodyPr wrap="square" lIns="0" tIns="0" rIns="0" bIns="0" rtlCol="0" anchor="ctr"/>
          <a:lstStyle/>
          <a:p>
            <a:pPr marL="0" indent="0">
              <a:buNone/>
            </a:pPr>
            <a:r>
              <a:rPr lang="en-US" sz="1100" b="1" dirty="0">
                <a:solidFill>
                  <a:srgbClr val="1A7A4A"/>
                </a:solidFill>
                <a:latin typeface="Calibri" pitchFamily="34" charset="0"/>
                <a:ea typeface="Calibri" pitchFamily="34" charset="-122"/>
                <a:cs typeface="Calibri" pitchFamily="34" charset="-120"/>
              </a:rPr>
              <a:t>Solucion:</a:t>
            </a:r>
            <a:endParaRPr lang="en-US" sz="1100" dirty="0"/>
          </a:p>
        </p:txBody>
      </p:sp>
      <p:sp>
        <p:nvSpPr>
          <p:cNvPr id="14" name="Text 12"/>
          <p:cNvSpPr/>
          <p:nvPr/>
        </p:nvSpPr>
        <p:spPr>
          <a:xfrm>
            <a:off x="5029200" y="1261872"/>
            <a:ext cx="3657600" cy="512064"/>
          </a:xfrm>
          <a:prstGeom prst="rect">
            <a:avLst/>
          </a:prstGeom>
          <a:noFill/>
          <a:ln/>
        </p:spPr>
        <p:txBody>
          <a:bodyPr wrap="square" lIns="0" tIns="0" rIns="0" bIns="0" rtlCol="0" anchor="ctr"/>
          <a:lstStyle/>
          <a:p>
            <a:pPr marL="0" indent="0">
              <a:lnSpc>
                <a:spcPct val="120000"/>
              </a:lnSpc>
              <a:buNone/>
            </a:pPr>
            <a:r>
              <a:rPr lang="en-US" sz="1100" dirty="0">
                <a:solidFill>
                  <a:srgbClr val="1B5E20"/>
                </a:solidFill>
                <a:latin typeface="Calibri" pitchFamily="34" charset="0"/>
                <a:ea typeface="Calibri" pitchFamily="34" charset="-122"/>
                <a:cs typeface="Calibri" pitchFamily="34" charset="-120"/>
              </a:rPr>
              <a:t>Se migro a Docker. Esta solucion resulto ser mejor que la original: mas rapida de configurar, mas ligera y mas facil de mover entre maquinas.</a:t>
            </a:r>
            <a:endParaRPr lang="en-US" sz="1100" dirty="0"/>
          </a:p>
        </p:txBody>
      </p:sp>
      <p:sp>
        <p:nvSpPr>
          <p:cNvPr id="15" name="Shape 13"/>
          <p:cNvSpPr/>
          <p:nvPr/>
        </p:nvSpPr>
        <p:spPr>
          <a:xfrm>
            <a:off x="347472" y="1956816"/>
            <a:ext cx="4187952" cy="896112"/>
          </a:xfrm>
          <a:prstGeom prst="rect">
            <a:avLst/>
          </a:prstGeom>
          <a:solidFill>
            <a:srgbClr val="FEF2F2"/>
          </a:solidFill>
          <a:ln w="7620">
            <a:solidFill>
              <a:srgbClr val="F1948A"/>
            </a:solidFill>
            <a:prstDash val="solid"/>
          </a:ln>
        </p:spPr>
        <p:txBody>
          <a:bodyPr/>
          <a:lstStyle/>
          <a:p>
            <a:endParaRPr lang="es-ES"/>
          </a:p>
        </p:txBody>
      </p:sp>
      <p:sp>
        <p:nvSpPr>
          <p:cNvPr id="16" name="Shape 14"/>
          <p:cNvSpPr/>
          <p:nvPr/>
        </p:nvSpPr>
        <p:spPr>
          <a:xfrm>
            <a:off x="347472" y="1956816"/>
            <a:ext cx="73152" cy="896112"/>
          </a:xfrm>
          <a:prstGeom prst="rect">
            <a:avLst/>
          </a:prstGeom>
          <a:solidFill>
            <a:srgbClr val="B03A2E"/>
          </a:solidFill>
          <a:ln w="12700">
            <a:solidFill>
              <a:srgbClr val="B03A2E"/>
            </a:solidFill>
            <a:prstDash val="solid"/>
          </a:ln>
        </p:spPr>
        <p:txBody>
          <a:bodyPr/>
          <a:lstStyle/>
          <a:p>
            <a:endParaRPr lang="es-ES"/>
          </a:p>
        </p:txBody>
      </p:sp>
      <p:sp>
        <p:nvSpPr>
          <p:cNvPr id="17" name="Text 15"/>
          <p:cNvSpPr/>
          <p:nvPr/>
        </p:nvSpPr>
        <p:spPr>
          <a:xfrm>
            <a:off x="475488" y="2002536"/>
            <a:ext cx="3986784" cy="274320"/>
          </a:xfrm>
          <a:prstGeom prst="rect">
            <a:avLst/>
          </a:prstGeom>
          <a:noFill/>
          <a:ln/>
        </p:spPr>
        <p:txBody>
          <a:bodyPr wrap="square" lIns="0" tIns="0" rIns="0" bIns="0" rtlCol="0" anchor="ctr"/>
          <a:lstStyle/>
          <a:p>
            <a:pPr marL="0" indent="0">
              <a:buNone/>
            </a:pPr>
            <a:r>
              <a:rPr lang="en-US" sz="1200" b="1" dirty="0">
                <a:solidFill>
                  <a:srgbClr val="B03A2E"/>
                </a:solidFill>
                <a:latin typeface="Calibri" pitchFamily="34" charset="0"/>
                <a:ea typeface="Calibri" pitchFamily="34" charset="-122"/>
                <a:cs typeface="Calibri" pitchFamily="34" charset="-120"/>
              </a:rPr>
              <a:t>El servidor no arrancaba por librerias incompatibles</a:t>
            </a:r>
            <a:endParaRPr lang="en-US" sz="1200" dirty="0"/>
          </a:p>
        </p:txBody>
      </p:sp>
      <p:sp>
        <p:nvSpPr>
          <p:cNvPr id="18" name="Text 16"/>
          <p:cNvSpPr/>
          <p:nvPr/>
        </p:nvSpPr>
        <p:spPr>
          <a:xfrm>
            <a:off x="475488" y="2322576"/>
            <a:ext cx="3986784" cy="475488"/>
          </a:xfrm>
          <a:prstGeom prst="rect">
            <a:avLst/>
          </a:prstGeom>
          <a:noFill/>
          <a:ln/>
        </p:spPr>
        <p:txBody>
          <a:bodyPr wrap="square" lIns="0" tIns="0" rIns="0" bIns="0" rtlCol="0" anchor="ctr"/>
          <a:lstStyle/>
          <a:p>
            <a:pPr marL="0" indent="0">
              <a:lnSpc>
                <a:spcPct val="120000"/>
              </a:lnSpc>
              <a:buNone/>
            </a:pPr>
            <a:r>
              <a:rPr lang="en-US" sz="1100" dirty="0">
                <a:solidFill>
                  <a:srgbClr val="5D4037"/>
                </a:solidFill>
                <a:latin typeface="Calibri" pitchFamily="34" charset="0"/>
                <a:ea typeface="Calibri" pitchFamily="34" charset="-122"/>
                <a:cs typeface="Calibri" pitchFamily="34" charset="-120"/>
              </a:rPr>
              <a:t>El archivo de configuracion del proyecto Java tenia versiones de librerias que no funcionaban juntas y el servidor fallaba al iniciar.</a:t>
            </a:r>
            <a:endParaRPr lang="en-US" sz="1100" dirty="0"/>
          </a:p>
        </p:txBody>
      </p:sp>
      <p:sp>
        <p:nvSpPr>
          <p:cNvPr id="19" name="Text 17"/>
          <p:cNvSpPr/>
          <p:nvPr/>
        </p:nvSpPr>
        <p:spPr>
          <a:xfrm>
            <a:off x="4553712" y="2249424"/>
            <a:ext cx="329184" cy="329184"/>
          </a:xfrm>
          <a:prstGeom prst="rect">
            <a:avLst/>
          </a:prstGeom>
          <a:noFill/>
          <a:ln/>
        </p:spPr>
        <p:txBody>
          <a:bodyPr wrap="square" lIns="0" tIns="0" rIns="0" bIns="0" rtlCol="0" anchor="ctr"/>
          <a:lstStyle/>
          <a:p>
            <a:pPr marL="0" indent="0" algn="ctr">
              <a:buNone/>
            </a:pPr>
            <a:r>
              <a:rPr lang="en-US" sz="2000" dirty="0">
                <a:solidFill>
                  <a:srgbClr val="AEB6BF"/>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4901184" y="1956816"/>
            <a:ext cx="3895344" cy="896112"/>
          </a:xfrm>
          <a:prstGeom prst="rect">
            <a:avLst/>
          </a:prstGeom>
          <a:solidFill>
            <a:srgbClr val="F0FDF4"/>
          </a:solidFill>
          <a:ln w="7620">
            <a:solidFill>
              <a:srgbClr val="82E0AA"/>
            </a:solidFill>
            <a:prstDash val="solid"/>
          </a:ln>
        </p:spPr>
        <p:txBody>
          <a:bodyPr/>
          <a:lstStyle/>
          <a:p>
            <a:endParaRPr lang="es-ES"/>
          </a:p>
        </p:txBody>
      </p:sp>
      <p:sp>
        <p:nvSpPr>
          <p:cNvPr id="21" name="Shape 19"/>
          <p:cNvSpPr/>
          <p:nvPr/>
        </p:nvSpPr>
        <p:spPr>
          <a:xfrm>
            <a:off x="4901184" y="1956816"/>
            <a:ext cx="73152" cy="896112"/>
          </a:xfrm>
          <a:prstGeom prst="rect">
            <a:avLst/>
          </a:prstGeom>
          <a:solidFill>
            <a:srgbClr val="1A7A4A"/>
          </a:solidFill>
          <a:ln w="12700">
            <a:solidFill>
              <a:srgbClr val="1A7A4A"/>
            </a:solidFill>
            <a:prstDash val="solid"/>
          </a:ln>
        </p:spPr>
        <p:txBody>
          <a:bodyPr/>
          <a:lstStyle/>
          <a:p>
            <a:endParaRPr lang="es-ES"/>
          </a:p>
        </p:txBody>
      </p:sp>
      <p:sp>
        <p:nvSpPr>
          <p:cNvPr id="22" name="Text 20"/>
          <p:cNvSpPr/>
          <p:nvPr/>
        </p:nvSpPr>
        <p:spPr>
          <a:xfrm>
            <a:off x="5029200" y="2002536"/>
            <a:ext cx="3657600" cy="256032"/>
          </a:xfrm>
          <a:prstGeom prst="rect">
            <a:avLst/>
          </a:prstGeom>
          <a:noFill/>
          <a:ln/>
        </p:spPr>
        <p:txBody>
          <a:bodyPr wrap="square" lIns="0" tIns="0" rIns="0" bIns="0" rtlCol="0" anchor="ctr"/>
          <a:lstStyle/>
          <a:p>
            <a:pPr marL="0" indent="0">
              <a:buNone/>
            </a:pPr>
            <a:r>
              <a:rPr lang="en-US" sz="1100" b="1" dirty="0">
                <a:solidFill>
                  <a:srgbClr val="1A7A4A"/>
                </a:solidFill>
                <a:latin typeface="Calibri" pitchFamily="34" charset="0"/>
                <a:ea typeface="Calibri" pitchFamily="34" charset="-122"/>
                <a:cs typeface="Calibri" pitchFamily="34" charset="-120"/>
              </a:rPr>
              <a:t>Solucion:</a:t>
            </a:r>
            <a:endParaRPr lang="en-US" sz="1100" dirty="0"/>
          </a:p>
        </p:txBody>
      </p:sp>
      <p:sp>
        <p:nvSpPr>
          <p:cNvPr id="23" name="Text 21"/>
          <p:cNvSpPr/>
          <p:nvPr/>
        </p:nvSpPr>
        <p:spPr>
          <a:xfrm>
            <a:off x="5029200" y="2286000"/>
            <a:ext cx="3657600" cy="512064"/>
          </a:xfrm>
          <a:prstGeom prst="rect">
            <a:avLst/>
          </a:prstGeom>
          <a:noFill/>
          <a:ln/>
        </p:spPr>
        <p:txBody>
          <a:bodyPr wrap="square" lIns="0" tIns="0" rIns="0" bIns="0" rtlCol="0" anchor="ctr"/>
          <a:lstStyle/>
          <a:p>
            <a:pPr marL="0" indent="0">
              <a:lnSpc>
                <a:spcPct val="120000"/>
              </a:lnSpc>
              <a:buNone/>
            </a:pPr>
            <a:r>
              <a:rPr lang="en-US" sz="1100" dirty="0">
                <a:solidFill>
                  <a:srgbClr val="1B5E20"/>
                </a:solidFill>
                <a:latin typeface="Calibri" pitchFamily="34" charset="0"/>
                <a:ea typeface="Calibri" pitchFamily="34" charset="-122"/>
                <a:cs typeface="Calibri" pitchFamily="34" charset="-120"/>
              </a:rPr>
              <a:t>Se revisaron las versiones una a una usando la web oficial de Spring Boot como referencia hasta encontrar la combinacion que funcionaba.</a:t>
            </a:r>
            <a:endParaRPr lang="en-US" sz="1100" dirty="0"/>
          </a:p>
        </p:txBody>
      </p:sp>
      <p:sp>
        <p:nvSpPr>
          <p:cNvPr id="24" name="Shape 22"/>
          <p:cNvSpPr/>
          <p:nvPr/>
        </p:nvSpPr>
        <p:spPr>
          <a:xfrm>
            <a:off x="347472" y="2980944"/>
            <a:ext cx="4187952" cy="896112"/>
          </a:xfrm>
          <a:prstGeom prst="rect">
            <a:avLst/>
          </a:prstGeom>
          <a:solidFill>
            <a:srgbClr val="FEF2F2"/>
          </a:solidFill>
          <a:ln w="7620">
            <a:solidFill>
              <a:srgbClr val="F1948A"/>
            </a:solidFill>
            <a:prstDash val="solid"/>
          </a:ln>
        </p:spPr>
        <p:txBody>
          <a:bodyPr/>
          <a:lstStyle/>
          <a:p>
            <a:endParaRPr lang="es-ES"/>
          </a:p>
        </p:txBody>
      </p:sp>
      <p:sp>
        <p:nvSpPr>
          <p:cNvPr id="25" name="Shape 23"/>
          <p:cNvSpPr/>
          <p:nvPr/>
        </p:nvSpPr>
        <p:spPr>
          <a:xfrm>
            <a:off x="347472" y="2980944"/>
            <a:ext cx="73152" cy="896112"/>
          </a:xfrm>
          <a:prstGeom prst="rect">
            <a:avLst/>
          </a:prstGeom>
          <a:solidFill>
            <a:srgbClr val="B03A2E"/>
          </a:solidFill>
          <a:ln w="12700">
            <a:solidFill>
              <a:srgbClr val="B03A2E"/>
            </a:solidFill>
            <a:prstDash val="solid"/>
          </a:ln>
        </p:spPr>
        <p:txBody>
          <a:bodyPr/>
          <a:lstStyle/>
          <a:p>
            <a:endParaRPr lang="es-ES"/>
          </a:p>
        </p:txBody>
      </p:sp>
      <p:sp>
        <p:nvSpPr>
          <p:cNvPr id="26" name="Text 24"/>
          <p:cNvSpPr/>
          <p:nvPr/>
        </p:nvSpPr>
        <p:spPr>
          <a:xfrm>
            <a:off x="475488" y="3026664"/>
            <a:ext cx="3986784" cy="274320"/>
          </a:xfrm>
          <a:prstGeom prst="rect">
            <a:avLst/>
          </a:prstGeom>
          <a:noFill/>
          <a:ln/>
        </p:spPr>
        <p:txBody>
          <a:bodyPr wrap="square" lIns="0" tIns="0" rIns="0" bIns="0" rtlCol="0" anchor="ctr"/>
          <a:lstStyle/>
          <a:p>
            <a:pPr marL="0" indent="0">
              <a:buNone/>
            </a:pPr>
            <a:r>
              <a:rPr lang="en-US" sz="1200" b="1" dirty="0">
                <a:solidFill>
                  <a:srgbClr val="B03A2E"/>
                </a:solidFill>
                <a:latin typeface="Calibri" pitchFamily="34" charset="0"/>
                <a:ea typeface="Calibri" pitchFamily="34" charset="-122"/>
                <a:cs typeface="Calibri" pitchFamily="34" charset="-120"/>
              </a:rPr>
              <a:t>Las consultas a la base de datos daban error de columna</a:t>
            </a:r>
            <a:endParaRPr lang="en-US" sz="1200" dirty="0"/>
          </a:p>
        </p:txBody>
      </p:sp>
      <p:sp>
        <p:nvSpPr>
          <p:cNvPr id="27" name="Text 25"/>
          <p:cNvSpPr/>
          <p:nvPr/>
        </p:nvSpPr>
        <p:spPr>
          <a:xfrm>
            <a:off x="475488" y="3346704"/>
            <a:ext cx="3986784" cy="475488"/>
          </a:xfrm>
          <a:prstGeom prst="rect">
            <a:avLst/>
          </a:prstGeom>
          <a:noFill/>
          <a:ln/>
        </p:spPr>
        <p:txBody>
          <a:bodyPr wrap="square" lIns="0" tIns="0" rIns="0" bIns="0" rtlCol="0" anchor="ctr"/>
          <a:lstStyle/>
          <a:p>
            <a:pPr marL="0" indent="0">
              <a:lnSpc>
                <a:spcPct val="120000"/>
              </a:lnSpc>
              <a:buNone/>
            </a:pPr>
            <a:r>
              <a:rPr lang="en-US" sz="1100" dirty="0">
                <a:solidFill>
                  <a:srgbClr val="5D4037"/>
                </a:solidFill>
                <a:latin typeface="Calibri" pitchFamily="34" charset="0"/>
                <a:ea typeface="Calibri" pitchFamily="34" charset="-122"/>
                <a:cs typeface="Calibri" pitchFamily="34" charset="-120"/>
              </a:rPr>
              <a:t>Las consultas fallaban porque los nombres de columna que se usaban no coincidian con los reales de la base de datos del proyecto.</a:t>
            </a:r>
            <a:endParaRPr lang="en-US" sz="1100" dirty="0"/>
          </a:p>
        </p:txBody>
      </p:sp>
      <p:sp>
        <p:nvSpPr>
          <p:cNvPr id="28" name="Text 26"/>
          <p:cNvSpPr/>
          <p:nvPr/>
        </p:nvSpPr>
        <p:spPr>
          <a:xfrm>
            <a:off x="4553712" y="3273552"/>
            <a:ext cx="329184" cy="329184"/>
          </a:xfrm>
          <a:prstGeom prst="rect">
            <a:avLst/>
          </a:prstGeom>
          <a:noFill/>
          <a:ln/>
        </p:spPr>
        <p:txBody>
          <a:bodyPr wrap="square" lIns="0" tIns="0" rIns="0" bIns="0" rtlCol="0" anchor="ctr"/>
          <a:lstStyle/>
          <a:p>
            <a:pPr marL="0" indent="0" algn="ctr">
              <a:buNone/>
            </a:pPr>
            <a:r>
              <a:rPr lang="en-US" sz="2000" dirty="0">
                <a:solidFill>
                  <a:srgbClr val="AEB6BF"/>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4901184" y="2980944"/>
            <a:ext cx="3895344" cy="896112"/>
          </a:xfrm>
          <a:prstGeom prst="rect">
            <a:avLst/>
          </a:prstGeom>
          <a:solidFill>
            <a:srgbClr val="F0FDF4"/>
          </a:solidFill>
          <a:ln w="7620">
            <a:solidFill>
              <a:srgbClr val="82E0AA"/>
            </a:solidFill>
            <a:prstDash val="solid"/>
          </a:ln>
        </p:spPr>
        <p:txBody>
          <a:bodyPr/>
          <a:lstStyle/>
          <a:p>
            <a:endParaRPr lang="es-ES"/>
          </a:p>
        </p:txBody>
      </p:sp>
      <p:sp>
        <p:nvSpPr>
          <p:cNvPr id="30" name="Shape 28"/>
          <p:cNvSpPr/>
          <p:nvPr/>
        </p:nvSpPr>
        <p:spPr>
          <a:xfrm>
            <a:off x="4901184" y="2980944"/>
            <a:ext cx="73152" cy="896112"/>
          </a:xfrm>
          <a:prstGeom prst="rect">
            <a:avLst/>
          </a:prstGeom>
          <a:solidFill>
            <a:srgbClr val="1A7A4A"/>
          </a:solidFill>
          <a:ln w="12700">
            <a:solidFill>
              <a:srgbClr val="1A7A4A"/>
            </a:solidFill>
            <a:prstDash val="solid"/>
          </a:ln>
        </p:spPr>
        <p:txBody>
          <a:bodyPr/>
          <a:lstStyle/>
          <a:p>
            <a:endParaRPr lang="es-ES"/>
          </a:p>
        </p:txBody>
      </p:sp>
      <p:sp>
        <p:nvSpPr>
          <p:cNvPr id="31" name="Text 29"/>
          <p:cNvSpPr/>
          <p:nvPr/>
        </p:nvSpPr>
        <p:spPr>
          <a:xfrm>
            <a:off x="5029200" y="3026664"/>
            <a:ext cx="3657600" cy="256032"/>
          </a:xfrm>
          <a:prstGeom prst="rect">
            <a:avLst/>
          </a:prstGeom>
          <a:noFill/>
          <a:ln/>
        </p:spPr>
        <p:txBody>
          <a:bodyPr wrap="square" lIns="0" tIns="0" rIns="0" bIns="0" rtlCol="0" anchor="ctr"/>
          <a:lstStyle/>
          <a:p>
            <a:pPr marL="0" indent="0">
              <a:buNone/>
            </a:pPr>
            <a:r>
              <a:rPr lang="en-US" sz="1100" b="1" dirty="0">
                <a:solidFill>
                  <a:srgbClr val="1A7A4A"/>
                </a:solidFill>
                <a:latin typeface="Calibri" pitchFamily="34" charset="0"/>
                <a:ea typeface="Calibri" pitchFamily="34" charset="-122"/>
                <a:cs typeface="Calibri" pitchFamily="34" charset="-120"/>
              </a:rPr>
              <a:t>Solucion:</a:t>
            </a:r>
            <a:endParaRPr lang="en-US" sz="1100" dirty="0"/>
          </a:p>
        </p:txBody>
      </p:sp>
      <p:sp>
        <p:nvSpPr>
          <p:cNvPr id="32" name="Text 30"/>
          <p:cNvSpPr/>
          <p:nvPr/>
        </p:nvSpPr>
        <p:spPr>
          <a:xfrm>
            <a:off x="5029200" y="3310128"/>
            <a:ext cx="3657600" cy="512064"/>
          </a:xfrm>
          <a:prstGeom prst="rect">
            <a:avLst/>
          </a:prstGeom>
          <a:noFill/>
          <a:ln/>
        </p:spPr>
        <p:txBody>
          <a:bodyPr wrap="square" lIns="0" tIns="0" rIns="0" bIns="0" rtlCol="0" anchor="ctr"/>
          <a:lstStyle/>
          <a:p>
            <a:pPr marL="0" indent="0">
              <a:lnSpc>
                <a:spcPct val="120000"/>
              </a:lnSpc>
              <a:buNone/>
            </a:pPr>
            <a:r>
              <a:rPr lang="en-US" sz="1100" dirty="0">
                <a:solidFill>
                  <a:srgbClr val="1B5E20"/>
                </a:solidFill>
                <a:latin typeface="Calibri" pitchFamily="34" charset="0"/>
                <a:ea typeface="Calibri" pitchFamily="34" charset="-122"/>
                <a:cs typeface="Calibri" pitchFamily="34" charset="-120"/>
              </a:rPr>
              <a:t>Se uso un comando de MySQL para ver la estructura exacta de cada tabla y se corrigieron las consultas con los nombres correctos.</a:t>
            </a:r>
            <a:endParaRPr lang="en-US" sz="1100" dirty="0"/>
          </a:p>
        </p:txBody>
      </p:sp>
      <p:sp>
        <p:nvSpPr>
          <p:cNvPr id="33" name="Shape 31"/>
          <p:cNvSpPr/>
          <p:nvPr/>
        </p:nvSpPr>
        <p:spPr>
          <a:xfrm>
            <a:off x="347472" y="4005072"/>
            <a:ext cx="4187952" cy="896112"/>
          </a:xfrm>
          <a:prstGeom prst="rect">
            <a:avLst/>
          </a:prstGeom>
          <a:solidFill>
            <a:srgbClr val="FEF2F2"/>
          </a:solidFill>
          <a:ln w="7620">
            <a:solidFill>
              <a:srgbClr val="F1948A"/>
            </a:solidFill>
            <a:prstDash val="solid"/>
          </a:ln>
        </p:spPr>
        <p:txBody>
          <a:bodyPr/>
          <a:lstStyle/>
          <a:p>
            <a:endParaRPr lang="es-ES"/>
          </a:p>
        </p:txBody>
      </p:sp>
      <p:sp>
        <p:nvSpPr>
          <p:cNvPr id="34" name="Shape 32"/>
          <p:cNvSpPr/>
          <p:nvPr/>
        </p:nvSpPr>
        <p:spPr>
          <a:xfrm>
            <a:off x="347472" y="4005072"/>
            <a:ext cx="73152" cy="896112"/>
          </a:xfrm>
          <a:prstGeom prst="rect">
            <a:avLst/>
          </a:prstGeom>
          <a:solidFill>
            <a:srgbClr val="B03A2E"/>
          </a:solidFill>
          <a:ln w="12700">
            <a:solidFill>
              <a:srgbClr val="B03A2E"/>
            </a:solidFill>
            <a:prstDash val="solid"/>
          </a:ln>
        </p:spPr>
        <p:txBody>
          <a:bodyPr/>
          <a:lstStyle/>
          <a:p>
            <a:endParaRPr lang="es-ES"/>
          </a:p>
        </p:txBody>
      </p:sp>
      <p:sp>
        <p:nvSpPr>
          <p:cNvPr id="35" name="Text 33"/>
          <p:cNvSpPr/>
          <p:nvPr/>
        </p:nvSpPr>
        <p:spPr>
          <a:xfrm>
            <a:off x="475488" y="4050792"/>
            <a:ext cx="3986784" cy="274320"/>
          </a:xfrm>
          <a:prstGeom prst="rect">
            <a:avLst/>
          </a:prstGeom>
          <a:noFill/>
          <a:ln/>
        </p:spPr>
        <p:txBody>
          <a:bodyPr wrap="square" lIns="0" tIns="0" rIns="0" bIns="0" rtlCol="0" anchor="ctr"/>
          <a:lstStyle/>
          <a:p>
            <a:pPr marL="0" indent="0">
              <a:buNone/>
            </a:pPr>
            <a:r>
              <a:rPr lang="en-US" sz="1200" b="1" dirty="0">
                <a:solidFill>
                  <a:srgbClr val="B03A2E"/>
                </a:solidFill>
                <a:latin typeface="Calibri" pitchFamily="34" charset="0"/>
                <a:ea typeface="Calibri" pitchFamily="34" charset="-122"/>
                <a:cs typeface="Calibri" pitchFamily="34" charset="-120"/>
              </a:rPr>
              <a:t>GitHub Desktop no detectaba el repositorio local</a:t>
            </a:r>
            <a:endParaRPr lang="en-US" sz="1200" dirty="0"/>
          </a:p>
        </p:txBody>
      </p:sp>
      <p:sp>
        <p:nvSpPr>
          <p:cNvPr id="36" name="Text 34"/>
          <p:cNvSpPr/>
          <p:nvPr/>
        </p:nvSpPr>
        <p:spPr>
          <a:xfrm>
            <a:off x="475488" y="4370832"/>
            <a:ext cx="3986784" cy="475488"/>
          </a:xfrm>
          <a:prstGeom prst="rect">
            <a:avLst/>
          </a:prstGeom>
          <a:noFill/>
          <a:ln/>
        </p:spPr>
        <p:txBody>
          <a:bodyPr wrap="square" lIns="0" tIns="0" rIns="0" bIns="0" rtlCol="0" anchor="ctr"/>
          <a:lstStyle/>
          <a:p>
            <a:pPr marL="0" indent="0">
              <a:lnSpc>
                <a:spcPct val="120000"/>
              </a:lnSpc>
              <a:buNone/>
            </a:pPr>
            <a:r>
              <a:rPr lang="en-US" sz="1100" dirty="0">
                <a:solidFill>
                  <a:srgbClr val="5D4037"/>
                </a:solidFill>
                <a:latin typeface="Calibri" pitchFamily="34" charset="0"/>
                <a:ea typeface="Calibri" pitchFamily="34" charset="-122"/>
                <a:cs typeface="Calibri" pitchFamily="34" charset="-120"/>
              </a:rPr>
              <a:t>La aplicacion no encontraba la carpeta del proyecto y no dejaba subir cambios ni hacer historial de versiones.</a:t>
            </a:r>
            <a:endParaRPr lang="en-US" sz="1100" dirty="0"/>
          </a:p>
        </p:txBody>
      </p:sp>
      <p:sp>
        <p:nvSpPr>
          <p:cNvPr id="37" name="Text 35"/>
          <p:cNvSpPr/>
          <p:nvPr/>
        </p:nvSpPr>
        <p:spPr>
          <a:xfrm>
            <a:off x="4553712" y="4297680"/>
            <a:ext cx="329184" cy="329184"/>
          </a:xfrm>
          <a:prstGeom prst="rect">
            <a:avLst/>
          </a:prstGeom>
          <a:noFill/>
          <a:ln/>
        </p:spPr>
        <p:txBody>
          <a:bodyPr wrap="square" lIns="0" tIns="0" rIns="0" bIns="0" rtlCol="0" anchor="ctr"/>
          <a:lstStyle/>
          <a:p>
            <a:pPr marL="0" indent="0" algn="ctr">
              <a:buNone/>
            </a:pPr>
            <a:r>
              <a:rPr lang="en-US" sz="2000" dirty="0">
                <a:solidFill>
                  <a:srgbClr val="AEB6BF"/>
                </a:solidFill>
                <a:latin typeface="Calibri" pitchFamily="34" charset="0"/>
                <a:ea typeface="Calibri" pitchFamily="34" charset="-122"/>
                <a:cs typeface="Calibri" pitchFamily="34" charset="-120"/>
              </a:rPr>
              <a:t>→</a:t>
            </a:r>
            <a:endParaRPr lang="en-US" sz="2000" dirty="0"/>
          </a:p>
        </p:txBody>
      </p:sp>
      <p:sp>
        <p:nvSpPr>
          <p:cNvPr id="38" name="Shape 36"/>
          <p:cNvSpPr/>
          <p:nvPr/>
        </p:nvSpPr>
        <p:spPr>
          <a:xfrm>
            <a:off x="4901184" y="4005072"/>
            <a:ext cx="3895344" cy="896112"/>
          </a:xfrm>
          <a:prstGeom prst="rect">
            <a:avLst/>
          </a:prstGeom>
          <a:solidFill>
            <a:srgbClr val="F0FDF4"/>
          </a:solidFill>
          <a:ln w="7620">
            <a:solidFill>
              <a:srgbClr val="82E0AA"/>
            </a:solidFill>
            <a:prstDash val="solid"/>
          </a:ln>
        </p:spPr>
        <p:txBody>
          <a:bodyPr/>
          <a:lstStyle/>
          <a:p>
            <a:endParaRPr lang="es-ES"/>
          </a:p>
        </p:txBody>
      </p:sp>
      <p:sp>
        <p:nvSpPr>
          <p:cNvPr id="39" name="Shape 37"/>
          <p:cNvSpPr/>
          <p:nvPr/>
        </p:nvSpPr>
        <p:spPr>
          <a:xfrm>
            <a:off x="4901184" y="4005072"/>
            <a:ext cx="73152" cy="896112"/>
          </a:xfrm>
          <a:prstGeom prst="rect">
            <a:avLst/>
          </a:prstGeom>
          <a:solidFill>
            <a:srgbClr val="1A7A4A"/>
          </a:solidFill>
          <a:ln w="12700">
            <a:solidFill>
              <a:srgbClr val="1A7A4A"/>
            </a:solidFill>
            <a:prstDash val="solid"/>
          </a:ln>
        </p:spPr>
        <p:txBody>
          <a:bodyPr/>
          <a:lstStyle/>
          <a:p>
            <a:endParaRPr lang="es-ES"/>
          </a:p>
        </p:txBody>
      </p:sp>
      <p:sp>
        <p:nvSpPr>
          <p:cNvPr id="40" name="Text 38"/>
          <p:cNvSpPr/>
          <p:nvPr/>
        </p:nvSpPr>
        <p:spPr>
          <a:xfrm>
            <a:off x="5029200" y="4050792"/>
            <a:ext cx="3657600" cy="256032"/>
          </a:xfrm>
          <a:prstGeom prst="rect">
            <a:avLst/>
          </a:prstGeom>
          <a:noFill/>
          <a:ln/>
        </p:spPr>
        <p:txBody>
          <a:bodyPr wrap="square" lIns="0" tIns="0" rIns="0" bIns="0" rtlCol="0" anchor="ctr"/>
          <a:lstStyle/>
          <a:p>
            <a:pPr marL="0" indent="0">
              <a:buNone/>
            </a:pPr>
            <a:r>
              <a:rPr lang="en-US" sz="1100" b="1" dirty="0">
                <a:solidFill>
                  <a:srgbClr val="1A7A4A"/>
                </a:solidFill>
                <a:latin typeface="Calibri" pitchFamily="34" charset="0"/>
                <a:ea typeface="Calibri" pitchFamily="34" charset="-122"/>
                <a:cs typeface="Calibri" pitchFamily="34" charset="-120"/>
              </a:rPr>
              <a:t>Solucion:</a:t>
            </a:r>
            <a:endParaRPr lang="en-US" sz="1100" dirty="0"/>
          </a:p>
        </p:txBody>
      </p:sp>
      <p:sp>
        <p:nvSpPr>
          <p:cNvPr id="41" name="Text 39"/>
          <p:cNvSpPr/>
          <p:nvPr/>
        </p:nvSpPr>
        <p:spPr>
          <a:xfrm>
            <a:off x="5029200" y="4334256"/>
            <a:ext cx="3657600" cy="512064"/>
          </a:xfrm>
          <a:prstGeom prst="rect">
            <a:avLst/>
          </a:prstGeom>
          <a:noFill/>
          <a:ln/>
        </p:spPr>
        <p:txBody>
          <a:bodyPr wrap="square" lIns="0" tIns="0" rIns="0" bIns="0" rtlCol="0" anchor="ctr"/>
          <a:lstStyle/>
          <a:p>
            <a:pPr marL="0" indent="0">
              <a:lnSpc>
                <a:spcPct val="120000"/>
              </a:lnSpc>
              <a:buNone/>
            </a:pPr>
            <a:r>
              <a:rPr lang="en-US" sz="1100" dirty="0">
                <a:solidFill>
                  <a:srgbClr val="1B5E20"/>
                </a:solidFill>
                <a:latin typeface="Calibri" pitchFamily="34" charset="0"/>
                <a:ea typeface="Calibri" pitchFamily="34" charset="-122"/>
                <a:cs typeface="Calibri" pitchFamily="34" charset="-120"/>
              </a:rPr>
              <a:t>Se subieron los archivos directamente desde la pagina web de GitHub sin necesitar la aplicacion.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5F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C2B4A"/>
          </a:solidFill>
          <a:ln w="12700">
            <a:solidFill>
              <a:srgbClr val="1C2B4A"/>
            </a:solidFill>
            <a:prstDash val="solid"/>
          </a:ln>
        </p:spPr>
        <p:txBody>
          <a:bodyPr/>
          <a:lstStyle/>
          <a:p>
            <a:endParaRPr lang="es-ES"/>
          </a:p>
        </p:txBody>
      </p:sp>
      <p:sp>
        <p:nvSpPr>
          <p:cNvPr id="3" name="Text 1"/>
          <p:cNvSpPr/>
          <p:nvPr/>
        </p:nvSpPr>
        <p:spPr>
          <a:xfrm>
            <a:off x="347472" y="36576"/>
            <a:ext cx="8595360" cy="201168"/>
          </a:xfrm>
          <a:prstGeom prst="rect">
            <a:avLst/>
          </a:prstGeom>
          <a:noFill/>
          <a:ln/>
        </p:spPr>
        <p:txBody>
          <a:bodyPr wrap="square" lIns="0" tIns="0" rIns="0" bIns="0" rtlCol="0" anchor="ctr"/>
          <a:lstStyle/>
          <a:p>
            <a:pPr marL="0" indent="0">
              <a:buNone/>
            </a:pPr>
            <a:r>
              <a:rPr lang="en-US" sz="900" b="1" kern="0" spc="300" dirty="0">
                <a:solidFill>
                  <a:srgbClr val="B03A2E"/>
                </a:solidFill>
                <a:latin typeface="Calibri" pitchFamily="34" charset="0"/>
                <a:ea typeface="Calibri" pitchFamily="34" charset="-122"/>
                <a:cs typeface="Calibri" pitchFamily="34" charset="-120"/>
              </a:rPr>
              <a:t>VALORACION DEL PROYECTO</a:t>
            </a:r>
            <a:endParaRPr lang="en-US" sz="900" dirty="0"/>
          </a:p>
        </p:txBody>
      </p:sp>
      <p:sp>
        <p:nvSpPr>
          <p:cNvPr id="4" name="Text 2"/>
          <p:cNvSpPr/>
          <p:nvPr/>
        </p:nvSpPr>
        <p:spPr>
          <a:xfrm>
            <a:off x="347472" y="164592"/>
            <a:ext cx="8595360" cy="566928"/>
          </a:xfrm>
          <a:prstGeom prst="rect">
            <a:avLst/>
          </a:prstGeom>
          <a:noFill/>
          <a:ln/>
        </p:spPr>
        <p:txBody>
          <a:bodyPr wrap="square" lIns="0" tIns="0" rIns="0" bIns="0" rtlCol="0" anchor="ctr"/>
          <a:lstStyle/>
          <a:p>
            <a:pPr marL="0" indent="0" algn="l">
              <a:buNone/>
            </a:pPr>
            <a:r>
              <a:rPr lang="en-US" sz="2700" b="1" dirty="0">
                <a:solidFill>
                  <a:srgbClr val="1C2B4A"/>
                </a:solidFill>
                <a:latin typeface="Calibri" pitchFamily="34" charset="0"/>
                <a:ea typeface="Calibri" pitchFamily="34" charset="-122"/>
                <a:cs typeface="Calibri" pitchFamily="34" charset="-120"/>
              </a:rPr>
              <a:t>Conclusiones y posibles mejoras</a:t>
            </a:r>
            <a:endParaRPr lang="en-US" sz="2700" dirty="0"/>
          </a:p>
        </p:txBody>
      </p:sp>
      <p:sp>
        <p:nvSpPr>
          <p:cNvPr id="5" name="Shape 3"/>
          <p:cNvSpPr/>
          <p:nvPr/>
        </p:nvSpPr>
        <p:spPr>
          <a:xfrm>
            <a:off x="347472" y="768096"/>
            <a:ext cx="8449056" cy="0"/>
          </a:xfrm>
          <a:prstGeom prst="line">
            <a:avLst/>
          </a:prstGeom>
          <a:noFill/>
          <a:ln w="8890">
            <a:solidFill>
              <a:srgbClr val="AEB6BF"/>
            </a:solidFill>
            <a:prstDash val="solid"/>
          </a:ln>
        </p:spPr>
        <p:txBody>
          <a:bodyPr/>
          <a:lstStyle/>
          <a:p>
            <a:endParaRPr lang="es-ES"/>
          </a:p>
        </p:txBody>
      </p:sp>
      <p:sp>
        <p:nvSpPr>
          <p:cNvPr id="6" name="Text 4"/>
          <p:cNvSpPr/>
          <p:nvPr/>
        </p:nvSpPr>
        <p:spPr>
          <a:xfrm>
            <a:off x="347472" y="932688"/>
            <a:ext cx="4206240" cy="274320"/>
          </a:xfrm>
          <a:prstGeom prst="rect">
            <a:avLst/>
          </a:prstGeom>
          <a:noFill/>
          <a:ln/>
        </p:spPr>
        <p:txBody>
          <a:bodyPr wrap="square" lIns="0" tIns="0" rIns="0" bIns="0" rtlCol="0" anchor="ctr"/>
          <a:lstStyle/>
          <a:p>
            <a:pPr marL="0" indent="0">
              <a:buNone/>
            </a:pPr>
            <a:r>
              <a:rPr lang="en-US" sz="1300" b="1" dirty="0">
                <a:solidFill>
                  <a:srgbClr val="1C2B4A"/>
                </a:solidFill>
                <a:latin typeface="Calibri" pitchFamily="34" charset="0"/>
                <a:ea typeface="Calibri" pitchFamily="34" charset="-122"/>
                <a:cs typeface="Calibri" pitchFamily="34" charset="-120"/>
              </a:rPr>
              <a:t>Lo que se ha conseguido</a:t>
            </a:r>
            <a:endParaRPr lang="en-US" sz="1300" dirty="0"/>
          </a:p>
        </p:txBody>
      </p:sp>
      <p:sp>
        <p:nvSpPr>
          <p:cNvPr id="7" name="Shape 5"/>
          <p:cNvSpPr/>
          <p:nvPr/>
        </p:nvSpPr>
        <p:spPr>
          <a:xfrm>
            <a:off x="347472" y="1353312"/>
            <a:ext cx="182880" cy="182880"/>
          </a:xfrm>
          <a:prstGeom prst="ellipse">
            <a:avLst/>
          </a:prstGeom>
          <a:solidFill>
            <a:srgbClr val="B03A2E"/>
          </a:solidFill>
          <a:ln w="12700">
            <a:solidFill>
              <a:srgbClr val="B03A2E"/>
            </a:solidFill>
            <a:prstDash val="solid"/>
          </a:ln>
        </p:spPr>
        <p:txBody>
          <a:bodyPr/>
          <a:lstStyle/>
          <a:p>
            <a:endParaRPr lang="es-ES"/>
          </a:p>
        </p:txBody>
      </p:sp>
      <p:sp>
        <p:nvSpPr>
          <p:cNvPr id="8" name="Text 6"/>
          <p:cNvSpPr/>
          <p:nvPr/>
        </p:nvSpPr>
        <p:spPr>
          <a:xfrm>
            <a:off x="603504" y="1261872"/>
            <a:ext cx="3950208" cy="585216"/>
          </a:xfrm>
          <a:prstGeom prst="rect">
            <a:avLst/>
          </a:prstGeom>
          <a:noFill/>
          <a:ln/>
        </p:spPr>
        <p:txBody>
          <a:bodyPr wrap="square" lIns="0" tIns="0" rIns="0" bIns="0" rtlCol="0" anchor="t"/>
          <a:lstStyle/>
          <a:p>
            <a:pPr marL="0" indent="0" algn="l">
              <a:lnSpc>
                <a:spcPct val="130000"/>
              </a:lnSpc>
              <a:buNone/>
            </a:pPr>
            <a:r>
              <a:rPr lang="en-US" sz="1200" dirty="0">
                <a:solidFill>
                  <a:srgbClr val="2C3E50"/>
                </a:solidFill>
                <a:latin typeface="Calibri" pitchFamily="34" charset="0"/>
                <a:ea typeface="Calibri" pitchFamily="34" charset="-122"/>
                <a:cs typeface="Calibri" pitchFamily="34" charset="-120"/>
              </a:rPr>
              <a:t>Base de datos con 5 tablas, trigger automatico de match y 3 procedimientos.</a:t>
            </a:r>
            <a:endParaRPr lang="en-US" sz="1200" dirty="0"/>
          </a:p>
        </p:txBody>
      </p:sp>
      <p:sp>
        <p:nvSpPr>
          <p:cNvPr id="9" name="Shape 7"/>
          <p:cNvSpPr/>
          <p:nvPr/>
        </p:nvSpPr>
        <p:spPr>
          <a:xfrm>
            <a:off x="347472" y="2029968"/>
            <a:ext cx="182880" cy="182880"/>
          </a:xfrm>
          <a:prstGeom prst="ellipse">
            <a:avLst/>
          </a:prstGeom>
          <a:solidFill>
            <a:srgbClr val="B03A2E"/>
          </a:solidFill>
          <a:ln w="12700">
            <a:solidFill>
              <a:srgbClr val="B03A2E"/>
            </a:solidFill>
            <a:prstDash val="solid"/>
          </a:ln>
        </p:spPr>
        <p:txBody>
          <a:bodyPr/>
          <a:lstStyle/>
          <a:p>
            <a:endParaRPr lang="es-ES"/>
          </a:p>
        </p:txBody>
      </p:sp>
      <p:sp>
        <p:nvSpPr>
          <p:cNvPr id="10" name="Text 8"/>
          <p:cNvSpPr/>
          <p:nvPr/>
        </p:nvSpPr>
        <p:spPr>
          <a:xfrm>
            <a:off x="603504" y="1938528"/>
            <a:ext cx="3950208" cy="585216"/>
          </a:xfrm>
          <a:prstGeom prst="rect">
            <a:avLst/>
          </a:prstGeom>
          <a:noFill/>
          <a:ln/>
        </p:spPr>
        <p:txBody>
          <a:bodyPr wrap="square" lIns="0" tIns="0" rIns="0" bIns="0" rtlCol="0" anchor="t"/>
          <a:lstStyle/>
          <a:p>
            <a:pPr marL="0" indent="0" algn="l">
              <a:lnSpc>
                <a:spcPct val="130000"/>
              </a:lnSpc>
              <a:buNone/>
            </a:pPr>
            <a:r>
              <a:rPr lang="en-US" sz="1200" dirty="0">
                <a:solidFill>
                  <a:srgbClr val="2C3E50"/>
                </a:solidFill>
                <a:latin typeface="Calibri" pitchFamily="34" charset="0"/>
                <a:ea typeface="Calibri" pitchFamily="34" charset="-122"/>
                <a:cs typeface="Calibri" pitchFamily="34" charset="-120"/>
              </a:rPr>
              <a:t>Servidor en Java que gestiona registro, login, perfiles, likes y fichas de match.</a:t>
            </a:r>
            <a:endParaRPr lang="en-US" sz="1200" dirty="0"/>
          </a:p>
        </p:txBody>
      </p:sp>
      <p:sp>
        <p:nvSpPr>
          <p:cNvPr id="11" name="Shape 9"/>
          <p:cNvSpPr/>
          <p:nvPr/>
        </p:nvSpPr>
        <p:spPr>
          <a:xfrm>
            <a:off x="347472" y="2706624"/>
            <a:ext cx="182880" cy="182880"/>
          </a:xfrm>
          <a:prstGeom prst="ellipse">
            <a:avLst/>
          </a:prstGeom>
          <a:solidFill>
            <a:srgbClr val="B03A2E"/>
          </a:solidFill>
          <a:ln w="12700">
            <a:solidFill>
              <a:srgbClr val="B03A2E"/>
            </a:solidFill>
            <a:prstDash val="solid"/>
          </a:ln>
        </p:spPr>
        <p:txBody>
          <a:bodyPr/>
          <a:lstStyle/>
          <a:p>
            <a:endParaRPr lang="es-ES"/>
          </a:p>
        </p:txBody>
      </p:sp>
      <p:sp>
        <p:nvSpPr>
          <p:cNvPr id="12" name="Text 10"/>
          <p:cNvSpPr/>
          <p:nvPr/>
        </p:nvSpPr>
        <p:spPr>
          <a:xfrm>
            <a:off x="603504" y="2615184"/>
            <a:ext cx="3950208" cy="585216"/>
          </a:xfrm>
          <a:prstGeom prst="rect">
            <a:avLst/>
          </a:prstGeom>
          <a:noFill/>
          <a:ln/>
        </p:spPr>
        <p:txBody>
          <a:bodyPr wrap="square" lIns="0" tIns="0" rIns="0" bIns="0" rtlCol="0" anchor="t"/>
          <a:lstStyle/>
          <a:p>
            <a:pPr marL="0" indent="0" algn="l">
              <a:lnSpc>
                <a:spcPct val="130000"/>
              </a:lnSpc>
              <a:buNone/>
            </a:pPr>
            <a:r>
              <a:rPr lang="en-US" sz="1200" dirty="0">
                <a:solidFill>
                  <a:srgbClr val="2C3E50"/>
                </a:solidFill>
                <a:latin typeface="Calibri" pitchFamily="34" charset="0"/>
                <a:ea typeface="Calibri" pitchFamily="34" charset="-122"/>
                <a:cs typeface="Calibri" pitchFamily="34" charset="-120"/>
              </a:rPr>
              <a:t>Interfaz web funcional que se comunica con </a:t>
            </a:r>
            <a:r>
              <a:rPr lang="en-US" sz="1200" dirty="0" err="1">
                <a:solidFill>
                  <a:srgbClr val="2C3E50"/>
                </a:solidFill>
                <a:latin typeface="Calibri" pitchFamily="34" charset="0"/>
                <a:ea typeface="Calibri" pitchFamily="34" charset="-122"/>
                <a:cs typeface="Calibri" pitchFamily="34" charset="-120"/>
              </a:rPr>
              <a:t>el</a:t>
            </a:r>
            <a:r>
              <a:rPr lang="en-US" sz="1200" dirty="0">
                <a:solidFill>
                  <a:srgbClr val="2C3E50"/>
                </a:solidFill>
                <a:latin typeface="Calibri" pitchFamily="34" charset="0"/>
                <a:ea typeface="Calibri" pitchFamily="34" charset="-122"/>
                <a:cs typeface="Calibri" pitchFamily="34" charset="-120"/>
              </a:rPr>
              <a:t> </a:t>
            </a:r>
            <a:r>
              <a:rPr lang="en-US" sz="1200" dirty="0" err="1">
                <a:solidFill>
                  <a:srgbClr val="2C3E50"/>
                </a:solidFill>
                <a:latin typeface="Calibri" pitchFamily="34" charset="0"/>
                <a:ea typeface="Calibri" pitchFamily="34" charset="-122"/>
                <a:cs typeface="Calibri" pitchFamily="34" charset="-120"/>
              </a:rPr>
              <a:t>servidor</a:t>
            </a:r>
            <a:r>
              <a:rPr lang="en-US" sz="1200" dirty="0">
                <a:solidFill>
                  <a:srgbClr val="2C3E50"/>
                </a:solidFill>
                <a:latin typeface="Calibri" pitchFamily="34" charset="0"/>
                <a:ea typeface="Calibri" pitchFamily="34" charset="-122"/>
                <a:cs typeface="Calibri" pitchFamily="34" charset="-120"/>
              </a:rPr>
              <a:t>.</a:t>
            </a:r>
            <a:endParaRPr lang="en-US" sz="1200" dirty="0"/>
          </a:p>
        </p:txBody>
      </p:sp>
      <p:sp>
        <p:nvSpPr>
          <p:cNvPr id="13" name="Shape 11"/>
          <p:cNvSpPr/>
          <p:nvPr/>
        </p:nvSpPr>
        <p:spPr>
          <a:xfrm>
            <a:off x="347472" y="3383280"/>
            <a:ext cx="182880" cy="182880"/>
          </a:xfrm>
          <a:prstGeom prst="ellipse">
            <a:avLst/>
          </a:prstGeom>
          <a:solidFill>
            <a:srgbClr val="B03A2E"/>
          </a:solidFill>
          <a:ln w="12700">
            <a:solidFill>
              <a:srgbClr val="B03A2E"/>
            </a:solidFill>
            <a:prstDash val="solid"/>
          </a:ln>
        </p:spPr>
        <p:txBody>
          <a:bodyPr/>
          <a:lstStyle/>
          <a:p>
            <a:endParaRPr lang="es-ES"/>
          </a:p>
        </p:txBody>
      </p:sp>
      <p:sp>
        <p:nvSpPr>
          <p:cNvPr id="14" name="Text 12"/>
          <p:cNvSpPr/>
          <p:nvPr/>
        </p:nvSpPr>
        <p:spPr>
          <a:xfrm>
            <a:off x="603504" y="3291840"/>
            <a:ext cx="3950208" cy="585216"/>
          </a:xfrm>
          <a:prstGeom prst="rect">
            <a:avLst/>
          </a:prstGeom>
          <a:noFill/>
          <a:ln/>
        </p:spPr>
        <p:txBody>
          <a:bodyPr wrap="square" lIns="0" tIns="0" rIns="0" bIns="0" rtlCol="0" anchor="t"/>
          <a:lstStyle/>
          <a:p>
            <a:pPr marL="0" indent="0" algn="l">
              <a:lnSpc>
                <a:spcPct val="130000"/>
              </a:lnSpc>
              <a:buNone/>
            </a:pPr>
            <a:r>
              <a:rPr lang="en-US" sz="1200" dirty="0">
                <a:solidFill>
                  <a:srgbClr val="2C3E50"/>
                </a:solidFill>
                <a:latin typeface="Calibri" pitchFamily="34" charset="0"/>
                <a:ea typeface="Calibri" pitchFamily="34" charset="-122"/>
                <a:cs typeface="Calibri" pitchFamily="34" charset="-120"/>
              </a:rPr>
              <a:t>Backup tanto manual </a:t>
            </a:r>
            <a:r>
              <a:rPr lang="en-US" sz="1200" dirty="0" err="1">
                <a:solidFill>
                  <a:srgbClr val="2C3E50"/>
                </a:solidFill>
                <a:latin typeface="Calibri" pitchFamily="34" charset="0"/>
                <a:ea typeface="Calibri" pitchFamily="34" charset="-122"/>
                <a:cs typeface="Calibri" pitchFamily="34" charset="-120"/>
              </a:rPr>
              <a:t>como</a:t>
            </a:r>
            <a:r>
              <a:rPr lang="en-US" sz="1200" dirty="0">
                <a:solidFill>
                  <a:srgbClr val="2C3E50"/>
                </a:solidFill>
                <a:latin typeface="Calibri" pitchFamily="34" charset="0"/>
                <a:ea typeface="Calibri" pitchFamily="34" charset="-122"/>
                <a:cs typeface="Calibri" pitchFamily="34" charset="-120"/>
              </a:rPr>
              <a:t> </a:t>
            </a:r>
            <a:r>
              <a:rPr lang="en-US" sz="1200" dirty="0" err="1">
                <a:solidFill>
                  <a:srgbClr val="2C3E50"/>
                </a:solidFill>
                <a:latin typeface="Calibri" pitchFamily="34" charset="0"/>
                <a:ea typeface="Calibri" pitchFamily="34" charset="-122"/>
                <a:cs typeface="Calibri" pitchFamily="34" charset="-120"/>
              </a:rPr>
              <a:t>automático</a:t>
            </a:r>
            <a:r>
              <a:rPr lang="en-US" sz="1200" dirty="0">
                <a:solidFill>
                  <a:srgbClr val="2C3E50"/>
                </a:solidFill>
                <a:latin typeface="Calibri" pitchFamily="34" charset="0"/>
                <a:ea typeface="Calibri" pitchFamily="34" charset="-122"/>
                <a:cs typeface="Calibri" pitchFamily="34" charset="-120"/>
              </a:rPr>
              <a:t>.</a:t>
            </a:r>
            <a:endParaRPr lang="en-US" sz="1200" dirty="0"/>
          </a:p>
        </p:txBody>
      </p:sp>
      <p:sp>
        <p:nvSpPr>
          <p:cNvPr id="15" name="Shape 13"/>
          <p:cNvSpPr/>
          <p:nvPr/>
        </p:nvSpPr>
        <p:spPr>
          <a:xfrm>
            <a:off x="347472" y="4059936"/>
            <a:ext cx="182880" cy="182880"/>
          </a:xfrm>
          <a:prstGeom prst="ellipse">
            <a:avLst/>
          </a:prstGeom>
          <a:solidFill>
            <a:srgbClr val="B03A2E"/>
          </a:solidFill>
          <a:ln w="12700">
            <a:solidFill>
              <a:srgbClr val="B03A2E"/>
            </a:solidFill>
            <a:prstDash val="solid"/>
          </a:ln>
        </p:spPr>
        <p:txBody>
          <a:bodyPr/>
          <a:lstStyle/>
          <a:p>
            <a:endParaRPr lang="es-ES"/>
          </a:p>
        </p:txBody>
      </p:sp>
      <p:sp>
        <p:nvSpPr>
          <p:cNvPr id="16" name="Text 14"/>
          <p:cNvSpPr/>
          <p:nvPr/>
        </p:nvSpPr>
        <p:spPr>
          <a:xfrm>
            <a:off x="603504" y="3968496"/>
            <a:ext cx="3950208" cy="585216"/>
          </a:xfrm>
          <a:prstGeom prst="rect">
            <a:avLst/>
          </a:prstGeom>
          <a:noFill/>
          <a:ln/>
        </p:spPr>
        <p:txBody>
          <a:bodyPr wrap="square" lIns="0" tIns="0" rIns="0" bIns="0" rtlCol="0" anchor="t"/>
          <a:lstStyle/>
          <a:p>
            <a:pPr marL="0" indent="0" algn="l">
              <a:lnSpc>
                <a:spcPct val="130000"/>
              </a:lnSpc>
              <a:buNone/>
            </a:pPr>
            <a:r>
              <a:rPr lang="en-US" sz="1200" dirty="0">
                <a:solidFill>
                  <a:srgbClr val="2C3E50"/>
                </a:solidFill>
                <a:latin typeface="Calibri" pitchFamily="34" charset="0"/>
                <a:ea typeface="Calibri" pitchFamily="34" charset="-122"/>
                <a:cs typeface="Calibri" pitchFamily="34" charset="-120"/>
              </a:rPr>
              <a:t>Todos los problemas tecnicos surgidos se resolvieron.</a:t>
            </a:r>
            <a:endParaRPr lang="en-US" sz="1200" dirty="0"/>
          </a:p>
        </p:txBody>
      </p:sp>
      <p:sp>
        <p:nvSpPr>
          <p:cNvPr id="17" name="Text 15"/>
          <p:cNvSpPr/>
          <p:nvPr/>
        </p:nvSpPr>
        <p:spPr>
          <a:xfrm>
            <a:off x="4773168" y="932688"/>
            <a:ext cx="4023360" cy="274320"/>
          </a:xfrm>
          <a:prstGeom prst="rect">
            <a:avLst/>
          </a:prstGeom>
          <a:noFill/>
          <a:ln/>
        </p:spPr>
        <p:txBody>
          <a:bodyPr wrap="square" lIns="0" tIns="0" rIns="0" bIns="0" rtlCol="0" anchor="ctr"/>
          <a:lstStyle/>
          <a:p>
            <a:pPr marL="0" indent="0">
              <a:buNone/>
            </a:pPr>
            <a:r>
              <a:rPr lang="en-US" sz="1300" b="1" dirty="0">
                <a:solidFill>
                  <a:srgbClr val="B03A2E"/>
                </a:solidFill>
                <a:latin typeface="Calibri" pitchFamily="34" charset="0"/>
                <a:ea typeface="Calibri" pitchFamily="34" charset="-122"/>
                <a:cs typeface="Calibri" pitchFamily="34" charset="-120"/>
              </a:rPr>
              <a:t>Que se podria mejorar</a:t>
            </a:r>
            <a:endParaRPr lang="en-US" sz="1300" dirty="0"/>
          </a:p>
        </p:txBody>
      </p:sp>
      <p:sp>
        <p:nvSpPr>
          <p:cNvPr id="18" name="Shape 16"/>
          <p:cNvSpPr/>
          <p:nvPr/>
        </p:nvSpPr>
        <p:spPr>
          <a:xfrm>
            <a:off x="4773168" y="1261872"/>
            <a:ext cx="4023360" cy="566928"/>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19" name="Text 17"/>
          <p:cNvSpPr/>
          <p:nvPr/>
        </p:nvSpPr>
        <p:spPr>
          <a:xfrm>
            <a:off x="4882896" y="1298448"/>
            <a:ext cx="3822192"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Autenticacion con tokens</a:t>
            </a:r>
            <a:endParaRPr lang="en-US" sz="1200" dirty="0"/>
          </a:p>
        </p:txBody>
      </p:sp>
      <p:sp>
        <p:nvSpPr>
          <p:cNvPr id="20" name="Text 18"/>
          <p:cNvSpPr/>
          <p:nvPr/>
        </p:nvSpPr>
        <p:spPr>
          <a:xfrm>
            <a:off x="4882896" y="1572768"/>
            <a:ext cx="3822192" cy="219456"/>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Hacer las sesiones mas seguras para proteger los datos del usuario.</a:t>
            </a:r>
            <a:endParaRPr lang="en-US" sz="1100" dirty="0"/>
          </a:p>
        </p:txBody>
      </p:sp>
      <p:sp>
        <p:nvSpPr>
          <p:cNvPr id="21" name="Shape 19"/>
          <p:cNvSpPr/>
          <p:nvPr/>
        </p:nvSpPr>
        <p:spPr>
          <a:xfrm>
            <a:off x="4773168" y="1938528"/>
            <a:ext cx="4023360" cy="566928"/>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22" name="Text 20"/>
          <p:cNvSpPr/>
          <p:nvPr/>
        </p:nvSpPr>
        <p:spPr>
          <a:xfrm>
            <a:off x="4882896" y="1975104"/>
            <a:ext cx="3822192"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Chat entre usuarios</a:t>
            </a:r>
            <a:endParaRPr lang="en-US" sz="1200" dirty="0"/>
          </a:p>
        </p:txBody>
      </p:sp>
      <p:sp>
        <p:nvSpPr>
          <p:cNvPr id="23" name="Text 21"/>
          <p:cNvSpPr/>
          <p:nvPr/>
        </p:nvSpPr>
        <p:spPr>
          <a:xfrm>
            <a:off x="4882896" y="2249424"/>
            <a:ext cx="3822192" cy="219456"/>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Que los usuarios que han hecho match puedan enviarse mensajes.</a:t>
            </a:r>
            <a:endParaRPr lang="en-US" sz="1100" dirty="0"/>
          </a:p>
        </p:txBody>
      </p:sp>
      <p:sp>
        <p:nvSpPr>
          <p:cNvPr id="24" name="Shape 22"/>
          <p:cNvSpPr/>
          <p:nvPr/>
        </p:nvSpPr>
        <p:spPr>
          <a:xfrm>
            <a:off x="4773168" y="2615184"/>
            <a:ext cx="4023360" cy="566928"/>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25" name="Text 23"/>
          <p:cNvSpPr/>
          <p:nvPr/>
        </p:nvSpPr>
        <p:spPr>
          <a:xfrm>
            <a:off x="4882896" y="2651760"/>
            <a:ext cx="3822192"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Subir a internet</a:t>
            </a:r>
            <a:endParaRPr lang="en-US" sz="1200" dirty="0"/>
          </a:p>
        </p:txBody>
      </p:sp>
      <p:sp>
        <p:nvSpPr>
          <p:cNvPr id="26" name="Text 24"/>
          <p:cNvSpPr/>
          <p:nvPr/>
        </p:nvSpPr>
        <p:spPr>
          <a:xfrm>
            <a:off x="4882896" y="2926080"/>
            <a:ext cx="3822192" cy="219456"/>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Publicar la aplicacion para que sea accesible desde cualquier dispositivo.</a:t>
            </a:r>
            <a:endParaRPr lang="en-US" sz="1100" dirty="0"/>
          </a:p>
        </p:txBody>
      </p:sp>
      <p:sp>
        <p:nvSpPr>
          <p:cNvPr id="27" name="Shape 25"/>
          <p:cNvSpPr/>
          <p:nvPr/>
        </p:nvSpPr>
        <p:spPr>
          <a:xfrm>
            <a:off x="4773168" y="3291840"/>
            <a:ext cx="4023360" cy="566928"/>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28" name="Text 26"/>
          <p:cNvSpPr/>
          <p:nvPr/>
        </p:nvSpPr>
        <p:spPr>
          <a:xfrm>
            <a:off x="4882896" y="3328416"/>
            <a:ext cx="3822192"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Perfil editable</a:t>
            </a:r>
            <a:endParaRPr lang="en-US" sz="1200" dirty="0"/>
          </a:p>
        </p:txBody>
      </p:sp>
      <p:sp>
        <p:nvSpPr>
          <p:cNvPr id="29" name="Text 27"/>
          <p:cNvSpPr/>
          <p:nvPr/>
        </p:nvSpPr>
        <p:spPr>
          <a:xfrm>
            <a:off x="4882896" y="3602736"/>
            <a:ext cx="3822192" cy="219456"/>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Que cada usuario pueda cambiar sus datos y tecnologias cuando quiera.</a:t>
            </a:r>
            <a:endParaRPr lang="en-US" sz="1100" dirty="0"/>
          </a:p>
        </p:txBody>
      </p:sp>
      <p:sp>
        <p:nvSpPr>
          <p:cNvPr id="30" name="Shape 28"/>
          <p:cNvSpPr/>
          <p:nvPr/>
        </p:nvSpPr>
        <p:spPr>
          <a:xfrm>
            <a:off x="4773168" y="3968496"/>
            <a:ext cx="4023360" cy="566928"/>
          </a:xfrm>
          <a:prstGeom prst="rect">
            <a:avLst/>
          </a:prstGeom>
          <a:solidFill>
            <a:srgbClr val="FFFFFF"/>
          </a:solidFill>
          <a:ln w="7620">
            <a:solidFill>
              <a:srgbClr val="D5DCE8"/>
            </a:solidFill>
            <a:prstDash val="solid"/>
          </a:ln>
          <a:effectLst>
            <a:outerShdw blurRad="63500" dist="25400" dir="8100000" algn="bl" rotWithShape="0">
              <a:srgbClr val="000000">
                <a:alpha val="8000"/>
              </a:srgbClr>
            </a:outerShdw>
          </a:effectLst>
        </p:spPr>
        <p:txBody>
          <a:bodyPr/>
          <a:lstStyle/>
          <a:p>
            <a:endParaRPr lang="es-ES"/>
          </a:p>
        </p:txBody>
      </p:sp>
      <p:sp>
        <p:nvSpPr>
          <p:cNvPr id="31" name="Text 29"/>
          <p:cNvSpPr/>
          <p:nvPr/>
        </p:nvSpPr>
        <p:spPr>
          <a:xfrm>
            <a:off x="4882896" y="4005072"/>
            <a:ext cx="3822192"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Un solo comando de inicio</a:t>
            </a:r>
            <a:endParaRPr lang="en-US" sz="1200" dirty="0"/>
          </a:p>
        </p:txBody>
      </p:sp>
      <p:sp>
        <p:nvSpPr>
          <p:cNvPr id="32" name="Text 30"/>
          <p:cNvSpPr/>
          <p:nvPr/>
        </p:nvSpPr>
        <p:spPr>
          <a:xfrm>
            <a:off x="4882896" y="4279392"/>
            <a:ext cx="3822192" cy="219456"/>
          </a:xfrm>
          <a:prstGeom prst="rect">
            <a:avLst/>
          </a:prstGeom>
          <a:noFill/>
          <a:ln/>
        </p:spPr>
        <p:txBody>
          <a:bodyPr wrap="square" lIns="0" tIns="0" rIns="0" bIns="0" rtlCol="0" anchor="ctr"/>
          <a:lstStyle/>
          <a:p>
            <a:pPr marL="0" indent="0">
              <a:buNone/>
            </a:pPr>
            <a:r>
              <a:rPr lang="en-US" sz="1100" dirty="0">
                <a:solidFill>
                  <a:srgbClr val="5D6D7E"/>
                </a:solidFill>
                <a:latin typeface="Calibri" pitchFamily="34" charset="0"/>
                <a:ea typeface="Calibri" pitchFamily="34" charset="-122"/>
                <a:cs typeface="Calibri" pitchFamily="34" charset="-120"/>
              </a:rPr>
              <a:t>Arrancar toda la aplicacion con un solo comando en lugar de varios pasos.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338"/>
        </a:solidFill>
        <a:effectLst/>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B03A2E"/>
          </a:solidFill>
          <a:ln w="12700">
            <a:solidFill>
              <a:srgbClr val="B03A2E"/>
            </a:solidFill>
            <a:prstDash val="solid"/>
          </a:ln>
        </p:spPr>
        <p:txBody>
          <a:bodyPr/>
          <a:lstStyle/>
          <a:p>
            <a:endParaRPr lang="es-ES"/>
          </a:p>
        </p:txBody>
      </p:sp>
      <p:sp>
        <p:nvSpPr>
          <p:cNvPr id="3" name="Text 1"/>
          <p:cNvSpPr/>
          <p:nvPr/>
        </p:nvSpPr>
        <p:spPr>
          <a:xfrm>
            <a:off x="475488" y="25603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Reflexion final</a:t>
            </a:r>
            <a:endParaRPr lang="en-US" sz="2600" dirty="0"/>
          </a:p>
        </p:txBody>
      </p:sp>
      <p:sp>
        <p:nvSpPr>
          <p:cNvPr id="4" name="Shape 2"/>
          <p:cNvSpPr/>
          <p:nvPr/>
        </p:nvSpPr>
        <p:spPr>
          <a:xfrm>
            <a:off x="475488" y="841248"/>
            <a:ext cx="8321040" cy="0"/>
          </a:xfrm>
          <a:prstGeom prst="line">
            <a:avLst/>
          </a:prstGeom>
          <a:noFill/>
          <a:ln w="15240">
            <a:solidFill>
              <a:srgbClr val="B03A2E"/>
            </a:solidFill>
            <a:prstDash val="solid"/>
          </a:ln>
        </p:spPr>
        <p:txBody>
          <a:bodyPr/>
          <a:lstStyle/>
          <a:p>
            <a:endParaRPr lang="es-ES"/>
          </a:p>
        </p:txBody>
      </p:sp>
      <p:sp>
        <p:nvSpPr>
          <p:cNvPr id="5" name="Text 3"/>
          <p:cNvSpPr/>
          <p:nvPr/>
        </p:nvSpPr>
        <p:spPr>
          <a:xfrm>
            <a:off x="475488" y="1005840"/>
            <a:ext cx="8321040" cy="1078992"/>
          </a:xfrm>
          <a:prstGeom prst="rect">
            <a:avLst/>
          </a:prstGeom>
          <a:noFill/>
          <a:ln/>
        </p:spPr>
        <p:txBody>
          <a:bodyPr wrap="square" lIns="0" tIns="0" rIns="0" bIns="0" rtlCol="0" anchor="t"/>
          <a:lstStyle/>
          <a:p>
            <a:pPr marL="0" indent="0" algn="l">
              <a:lnSpc>
                <a:spcPct val="145000"/>
              </a:lnSpc>
              <a:buNone/>
            </a:pPr>
            <a:r>
              <a:rPr lang="en-US" sz="1500" dirty="0">
                <a:solidFill>
                  <a:srgbClr val="D0D8E8"/>
                </a:solidFill>
                <a:latin typeface="Calibri" pitchFamily="34" charset="0"/>
                <a:ea typeface="Calibri" pitchFamily="34" charset="-122"/>
                <a:cs typeface="Calibri" pitchFamily="34" charset="-120"/>
              </a:rPr>
              <a:t>Este proyecto ha sido la primera vez que he tenido que construir una aplicacion completa desde cero: pensar como se organiza la informacion, programar el servidor, </a:t>
            </a:r>
            <a:r>
              <a:rPr lang="en-US" sz="1500" dirty="0" err="1">
                <a:solidFill>
                  <a:srgbClr val="D0D8E8"/>
                </a:solidFill>
                <a:latin typeface="Calibri" pitchFamily="34" charset="0"/>
                <a:ea typeface="Calibri" pitchFamily="34" charset="-122"/>
                <a:cs typeface="Calibri" pitchFamily="34" charset="-120"/>
              </a:rPr>
              <a:t>diseñar</a:t>
            </a:r>
            <a:r>
              <a:rPr lang="en-US" sz="1500" dirty="0">
                <a:solidFill>
                  <a:srgbClr val="D0D8E8"/>
                </a:solidFill>
                <a:latin typeface="Calibri" pitchFamily="34" charset="0"/>
                <a:ea typeface="Calibri" pitchFamily="34" charset="-122"/>
                <a:cs typeface="Calibri" pitchFamily="34" charset="-120"/>
              </a:rPr>
              <a:t> la interfaz y hacer que todo </a:t>
            </a:r>
            <a:r>
              <a:rPr lang="en-US" sz="1500" dirty="0" err="1">
                <a:solidFill>
                  <a:srgbClr val="D0D8E8"/>
                </a:solidFill>
                <a:latin typeface="Calibri" pitchFamily="34" charset="0"/>
                <a:ea typeface="Calibri" pitchFamily="34" charset="-122"/>
                <a:cs typeface="Calibri" pitchFamily="34" charset="-120"/>
              </a:rPr>
              <a:t>funcione</a:t>
            </a:r>
            <a:r>
              <a:rPr lang="en-US" sz="1500" dirty="0">
                <a:solidFill>
                  <a:srgbClr val="D0D8E8"/>
                </a:solidFill>
                <a:latin typeface="Calibri" pitchFamily="34" charset="0"/>
                <a:ea typeface="Calibri" pitchFamily="34" charset="-122"/>
                <a:cs typeface="Calibri" pitchFamily="34" charset="-120"/>
              </a:rPr>
              <a:t> junto.</a:t>
            </a:r>
            <a:endParaRPr lang="en-US" sz="1500" dirty="0"/>
          </a:p>
        </p:txBody>
      </p:sp>
      <p:sp>
        <p:nvSpPr>
          <p:cNvPr id="6" name="Text 4"/>
          <p:cNvSpPr/>
          <p:nvPr/>
        </p:nvSpPr>
        <p:spPr>
          <a:xfrm>
            <a:off x="475488" y="2176272"/>
            <a:ext cx="8321040" cy="1078992"/>
          </a:xfrm>
          <a:prstGeom prst="rect">
            <a:avLst/>
          </a:prstGeom>
          <a:noFill/>
          <a:ln/>
        </p:spPr>
        <p:txBody>
          <a:bodyPr wrap="square" lIns="0" tIns="0" rIns="0" bIns="0" rtlCol="0" anchor="t"/>
          <a:lstStyle/>
          <a:p>
            <a:pPr marL="0" indent="0" algn="l">
              <a:lnSpc>
                <a:spcPct val="145000"/>
              </a:lnSpc>
              <a:buNone/>
            </a:pPr>
            <a:r>
              <a:rPr lang="en-US" sz="1500" dirty="0">
                <a:solidFill>
                  <a:srgbClr val="D0D8E8"/>
                </a:solidFill>
                <a:latin typeface="Calibri" pitchFamily="34" charset="0"/>
                <a:ea typeface="Calibri" pitchFamily="34" charset="-122"/>
                <a:cs typeface="Calibri" pitchFamily="34" charset="-120"/>
              </a:rPr>
              <a:t>Los problemas que surgieron, como perder la maquina virtual, los errores de configuracion o los fallos en las consultas, no fueron obstaculos negativos. Fueron la parte mas util del proceso, porque aprender a resolver ese tipo de situaciones es lo que mas se parece al trabajo real de un desarrollador.</a:t>
            </a:r>
            <a:endParaRPr lang="en-US" sz="1500" dirty="0"/>
          </a:p>
        </p:txBody>
      </p:sp>
      <p:sp>
        <p:nvSpPr>
          <p:cNvPr id="7" name="Text 5"/>
          <p:cNvSpPr/>
          <p:nvPr/>
        </p:nvSpPr>
        <p:spPr>
          <a:xfrm>
            <a:off x="475488" y="3346704"/>
            <a:ext cx="8321040" cy="1078992"/>
          </a:xfrm>
          <a:prstGeom prst="rect">
            <a:avLst/>
          </a:prstGeom>
          <a:noFill/>
          <a:ln/>
        </p:spPr>
        <p:txBody>
          <a:bodyPr wrap="square" lIns="0" tIns="0" rIns="0" bIns="0" rtlCol="0" anchor="t"/>
          <a:lstStyle/>
          <a:p>
            <a:pPr marL="0" indent="0" algn="l">
              <a:lnSpc>
                <a:spcPct val="145000"/>
              </a:lnSpc>
              <a:buNone/>
            </a:pPr>
            <a:r>
              <a:rPr lang="en-US" sz="1500" dirty="0">
                <a:solidFill>
                  <a:srgbClr val="D0D8E8"/>
                </a:solidFill>
                <a:latin typeface="Calibri" pitchFamily="34" charset="0"/>
                <a:ea typeface="Calibri" pitchFamily="34" charset="-122"/>
                <a:cs typeface="Calibri" pitchFamily="34" charset="-120"/>
              </a:rPr>
              <a:t>Haber trabajado con cinco asignaturas a la vez ha hecho ver que los conocimientos del ciclo no van por separado. No se puede hacer un buen servidor sin entender la base de datos. No se </a:t>
            </a:r>
            <a:r>
              <a:rPr lang="en-US" sz="1500" dirty="0" err="1">
                <a:solidFill>
                  <a:srgbClr val="D0D8E8"/>
                </a:solidFill>
                <a:latin typeface="Calibri" pitchFamily="34" charset="0"/>
                <a:ea typeface="Calibri" pitchFamily="34" charset="-122"/>
                <a:cs typeface="Calibri" pitchFamily="34" charset="-120"/>
              </a:rPr>
              <a:t>puede</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diseñar</a:t>
            </a:r>
            <a:r>
              <a:rPr lang="en-US" sz="1500" dirty="0">
                <a:solidFill>
                  <a:srgbClr val="D0D8E8"/>
                </a:solidFill>
                <a:latin typeface="Calibri" pitchFamily="34" charset="0"/>
                <a:ea typeface="Calibri" pitchFamily="34" charset="-122"/>
                <a:cs typeface="Calibri" pitchFamily="34" charset="-120"/>
              </a:rPr>
              <a:t> una buena interfaz sin saber que le llega desde </a:t>
            </a:r>
            <a:r>
              <a:rPr lang="en-US" sz="1500" dirty="0" err="1">
                <a:solidFill>
                  <a:srgbClr val="D0D8E8"/>
                </a:solidFill>
                <a:latin typeface="Calibri" pitchFamily="34" charset="0"/>
                <a:ea typeface="Calibri" pitchFamily="34" charset="-122"/>
                <a:cs typeface="Calibri" pitchFamily="34" charset="-120"/>
              </a:rPr>
              <a:t>el</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servidor</a:t>
            </a:r>
            <a:r>
              <a:rPr lang="en-US" sz="1500" dirty="0">
                <a:solidFill>
                  <a:srgbClr val="D0D8E8"/>
                </a:solidFill>
                <a:latin typeface="Calibri" pitchFamily="34" charset="0"/>
                <a:ea typeface="Calibri" pitchFamily="34" charset="-122"/>
                <a:cs typeface="Calibri" pitchFamily="34" charset="-120"/>
              </a:rPr>
              <a:t>. Por lo tanto </a:t>
            </a:r>
            <a:r>
              <a:rPr lang="en-US" sz="1500" dirty="0" err="1">
                <a:solidFill>
                  <a:srgbClr val="D0D8E8"/>
                </a:solidFill>
                <a:latin typeface="Calibri" pitchFamily="34" charset="0"/>
                <a:ea typeface="Calibri" pitchFamily="34" charset="-122"/>
                <a:cs typeface="Calibri" pitchFamily="34" charset="-120"/>
              </a:rPr>
              <a:t>te</a:t>
            </a:r>
            <a:r>
              <a:rPr lang="en-US" sz="1500" dirty="0">
                <a:solidFill>
                  <a:srgbClr val="D0D8E8"/>
                </a:solidFill>
                <a:latin typeface="Calibri" pitchFamily="34" charset="0"/>
                <a:ea typeface="Calibri" pitchFamily="34" charset="-122"/>
                <a:cs typeface="Calibri" pitchFamily="34" charset="-120"/>
              </a:rPr>
              <a:t> das </a:t>
            </a:r>
            <a:r>
              <a:rPr lang="en-US" sz="1500" dirty="0" err="1">
                <a:solidFill>
                  <a:srgbClr val="D0D8E8"/>
                </a:solidFill>
                <a:latin typeface="Calibri" pitchFamily="34" charset="0"/>
                <a:ea typeface="Calibri" pitchFamily="34" charset="-122"/>
                <a:cs typeface="Calibri" pitchFamily="34" charset="-120"/>
              </a:rPr>
              <a:t>cuenta</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que</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todo</a:t>
            </a:r>
            <a:r>
              <a:rPr lang="en-US" sz="1500" dirty="0">
                <a:solidFill>
                  <a:srgbClr val="D0D8E8"/>
                </a:solidFill>
                <a:latin typeface="Calibri" pitchFamily="34" charset="0"/>
                <a:ea typeface="Calibri" pitchFamily="34" charset="-122"/>
                <a:cs typeface="Calibri" pitchFamily="34" charset="-120"/>
              </a:rPr>
              <a:t> Proyecto </a:t>
            </a:r>
            <a:r>
              <a:rPr lang="en-US" sz="1500" dirty="0" err="1">
                <a:solidFill>
                  <a:srgbClr val="D0D8E8"/>
                </a:solidFill>
                <a:latin typeface="Calibri" pitchFamily="34" charset="0"/>
                <a:ea typeface="Calibri" pitchFamily="34" charset="-122"/>
                <a:cs typeface="Calibri" pitchFamily="34" charset="-120"/>
              </a:rPr>
              <a:t>necesita</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su</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esfuerzo</a:t>
            </a:r>
            <a:r>
              <a:rPr lang="en-US" sz="1500" dirty="0">
                <a:solidFill>
                  <a:srgbClr val="D0D8E8"/>
                </a:solidFill>
                <a:latin typeface="Calibri" pitchFamily="34" charset="0"/>
                <a:ea typeface="Calibri" pitchFamily="34" charset="-122"/>
                <a:cs typeface="Calibri" pitchFamily="34" charset="-120"/>
              </a:rPr>
              <a:t> y </a:t>
            </a:r>
            <a:r>
              <a:rPr lang="en-US" sz="1500" dirty="0" err="1">
                <a:solidFill>
                  <a:srgbClr val="D0D8E8"/>
                </a:solidFill>
                <a:latin typeface="Calibri" pitchFamily="34" charset="0"/>
                <a:ea typeface="Calibri" pitchFamily="34" charset="-122"/>
                <a:cs typeface="Calibri" pitchFamily="34" charset="-120"/>
              </a:rPr>
              <a:t>su</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tiempo</a:t>
            </a:r>
            <a:r>
              <a:rPr lang="en-US" sz="1500" dirty="0">
                <a:solidFill>
                  <a:srgbClr val="D0D8E8"/>
                </a:solidFill>
                <a:latin typeface="Calibri" pitchFamily="34" charset="0"/>
                <a:ea typeface="Calibri" pitchFamily="34" charset="-122"/>
                <a:cs typeface="Calibri" pitchFamily="34" charset="-120"/>
              </a:rPr>
              <a:t> para </a:t>
            </a:r>
            <a:r>
              <a:rPr lang="en-US" sz="1500" dirty="0" err="1">
                <a:solidFill>
                  <a:srgbClr val="D0D8E8"/>
                </a:solidFill>
                <a:latin typeface="Calibri" pitchFamily="34" charset="0"/>
                <a:ea typeface="Calibri" pitchFamily="34" charset="-122"/>
                <a:cs typeface="Calibri" pitchFamily="34" charset="-120"/>
              </a:rPr>
              <a:t>completarlo</a:t>
            </a:r>
            <a:r>
              <a:rPr lang="en-US" sz="1500" dirty="0">
                <a:solidFill>
                  <a:srgbClr val="D0D8E8"/>
                </a:solidFill>
                <a:latin typeface="Calibri" pitchFamily="34" charset="0"/>
                <a:ea typeface="Calibri" pitchFamily="34" charset="-122"/>
                <a:cs typeface="Calibri" pitchFamily="34" charset="-120"/>
              </a:rPr>
              <a:t> , y </a:t>
            </a:r>
            <a:r>
              <a:rPr lang="en-US" sz="1500" dirty="0" err="1">
                <a:solidFill>
                  <a:srgbClr val="D0D8E8"/>
                </a:solidFill>
                <a:latin typeface="Calibri" pitchFamily="34" charset="0"/>
                <a:ea typeface="Calibri" pitchFamily="34" charset="-122"/>
                <a:cs typeface="Calibri" pitchFamily="34" charset="-120"/>
              </a:rPr>
              <a:t>siempre</a:t>
            </a:r>
            <a:r>
              <a:rPr lang="en-US" sz="1500" dirty="0">
                <a:solidFill>
                  <a:srgbClr val="D0D8E8"/>
                </a:solidFill>
                <a:latin typeface="Calibri" pitchFamily="34" charset="0"/>
                <a:ea typeface="Calibri" pitchFamily="34" charset="-122"/>
                <a:cs typeface="Calibri" pitchFamily="34" charset="-120"/>
              </a:rPr>
              <a:t> hay </a:t>
            </a:r>
            <a:r>
              <a:rPr lang="en-US" sz="1500" dirty="0" err="1">
                <a:solidFill>
                  <a:srgbClr val="D0D8E8"/>
                </a:solidFill>
                <a:latin typeface="Calibri" pitchFamily="34" charset="0"/>
                <a:ea typeface="Calibri" pitchFamily="34" charset="-122"/>
                <a:cs typeface="Calibri" pitchFamily="34" charset="-120"/>
              </a:rPr>
              <a:t>que</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tener</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el</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tiempo</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suficiente</a:t>
            </a:r>
            <a:r>
              <a:rPr lang="en-US" sz="1500" dirty="0">
                <a:solidFill>
                  <a:srgbClr val="D0D8E8"/>
                </a:solidFill>
                <a:latin typeface="Calibri" pitchFamily="34" charset="0"/>
                <a:ea typeface="Calibri" pitchFamily="34" charset="-122"/>
                <a:cs typeface="Calibri" pitchFamily="34" charset="-120"/>
              </a:rPr>
              <a:t> para </a:t>
            </a:r>
            <a:r>
              <a:rPr lang="en-US" sz="1500" dirty="0" err="1">
                <a:solidFill>
                  <a:srgbClr val="D0D8E8"/>
                </a:solidFill>
                <a:latin typeface="Calibri" pitchFamily="34" charset="0"/>
                <a:ea typeface="Calibri" pitchFamily="34" charset="-122"/>
                <a:cs typeface="Calibri" pitchFamily="34" charset="-120"/>
              </a:rPr>
              <a:t>poder</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sobrepasar</a:t>
            </a:r>
            <a:r>
              <a:rPr lang="en-US" sz="1500" dirty="0">
                <a:solidFill>
                  <a:srgbClr val="D0D8E8"/>
                </a:solidFill>
                <a:latin typeface="Calibri" pitchFamily="34" charset="0"/>
                <a:ea typeface="Calibri" pitchFamily="34" charset="-122"/>
                <a:cs typeface="Calibri" pitchFamily="34" charset="-120"/>
              </a:rPr>
              <a:t> las </a:t>
            </a:r>
            <a:r>
              <a:rPr lang="en-US" sz="1500" dirty="0" err="1">
                <a:solidFill>
                  <a:srgbClr val="D0D8E8"/>
                </a:solidFill>
                <a:latin typeface="Calibri" pitchFamily="34" charset="0"/>
                <a:ea typeface="Calibri" pitchFamily="34" charset="-122"/>
                <a:cs typeface="Calibri" pitchFamily="34" charset="-120"/>
              </a:rPr>
              <a:t>adversidades</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que</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pueden</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Ir</a:t>
            </a:r>
            <a:r>
              <a:rPr lang="en-US" sz="1500" dirty="0">
                <a:solidFill>
                  <a:srgbClr val="D0D8E8"/>
                </a:solidFill>
                <a:latin typeface="Calibri" pitchFamily="34" charset="0"/>
                <a:ea typeface="Calibri" pitchFamily="34" charset="-122"/>
                <a:cs typeface="Calibri" pitchFamily="34" charset="-120"/>
              </a:rPr>
              <a:t> </a:t>
            </a:r>
            <a:r>
              <a:rPr lang="en-US" sz="1500" dirty="0" err="1">
                <a:solidFill>
                  <a:srgbClr val="D0D8E8"/>
                </a:solidFill>
                <a:latin typeface="Calibri" pitchFamily="34" charset="0"/>
                <a:ea typeface="Calibri" pitchFamily="34" charset="-122"/>
                <a:cs typeface="Calibri" pitchFamily="34" charset="-120"/>
              </a:rPr>
              <a:t>apareciendo</a:t>
            </a:r>
            <a:r>
              <a:rPr lang="en-US" sz="1500" dirty="0">
                <a:solidFill>
                  <a:srgbClr val="D0D8E8"/>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2338"/>
        </a:solidFill>
        <a:effectLst/>
      </p:bgPr>
    </p:bg>
    <p:spTree>
      <p:nvGrpSpPr>
        <p:cNvPr id="1" name="">
          <a:extLst>
            <a:ext uri="{FF2B5EF4-FFF2-40B4-BE49-F238E27FC236}">
              <a16:creationId xmlns:a16="http://schemas.microsoft.com/office/drawing/2014/main" id="{106081FC-C426-FEE3-8E2B-478F87E2929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00708BA-ACCF-0A6A-3EAF-C2F2D3ACF38A}"/>
              </a:ext>
            </a:extLst>
          </p:cNvPr>
          <p:cNvSpPr/>
          <p:nvPr/>
        </p:nvSpPr>
        <p:spPr>
          <a:xfrm>
            <a:off x="0" y="0"/>
            <a:ext cx="256032" cy="5143500"/>
          </a:xfrm>
          <a:prstGeom prst="rect">
            <a:avLst/>
          </a:prstGeom>
          <a:solidFill>
            <a:srgbClr val="B03A2E"/>
          </a:solidFill>
          <a:ln w="12700">
            <a:solidFill>
              <a:srgbClr val="B03A2E"/>
            </a:solidFill>
            <a:prstDash val="solid"/>
          </a:ln>
        </p:spPr>
        <p:txBody>
          <a:bodyPr/>
          <a:lstStyle/>
          <a:p>
            <a:endParaRPr lang="es-ES"/>
          </a:p>
        </p:txBody>
      </p:sp>
      <p:sp>
        <p:nvSpPr>
          <p:cNvPr id="3" name="Text 1">
            <a:extLst>
              <a:ext uri="{FF2B5EF4-FFF2-40B4-BE49-F238E27FC236}">
                <a16:creationId xmlns:a16="http://schemas.microsoft.com/office/drawing/2014/main" id="{12C21B4D-955D-6B06-BF9C-2D7BFE240A9B}"/>
              </a:ext>
            </a:extLst>
          </p:cNvPr>
          <p:cNvSpPr/>
          <p:nvPr/>
        </p:nvSpPr>
        <p:spPr>
          <a:xfrm>
            <a:off x="411480" y="2297430"/>
            <a:ext cx="83210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FIN</a:t>
            </a:r>
            <a:endParaRPr lang="en-US" sz="2600" dirty="0"/>
          </a:p>
        </p:txBody>
      </p:sp>
    </p:spTree>
    <p:extLst>
      <p:ext uri="{BB962C8B-B14F-4D97-AF65-F5344CB8AC3E}">
        <p14:creationId xmlns:p14="http://schemas.microsoft.com/office/powerpoint/2010/main" val="4606720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2010</Words>
  <Application>Microsoft Office PowerPoint</Application>
  <PresentationFormat>Presentación en pantalla (16:9)</PresentationFormat>
  <Paragraphs>207</Paragraphs>
  <Slides>14</Slides>
  <Notes>14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14</vt:i4>
      </vt:variant>
    </vt:vector>
  </HeadingPairs>
  <TitlesOfParts>
    <vt:vector size="17"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CARLOS RUBIÑO SELVA</cp:lastModifiedBy>
  <cp:revision>2</cp:revision>
  <dcterms:created xsi:type="dcterms:W3CDTF">2026-05-31T11:37:42Z</dcterms:created>
  <dcterms:modified xsi:type="dcterms:W3CDTF">2026-05-31T19:38:15Z</dcterms:modified>
</cp:coreProperties>
</file>